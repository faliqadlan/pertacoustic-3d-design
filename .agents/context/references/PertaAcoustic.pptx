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D2AA-2496-55A2-B881-D95E4B87E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4ACB1-CE1E-0120-0051-661173AB8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525DF-DE8A-1C32-9AB1-3200157D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CEB83-450B-E761-D129-98F8ED1C3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E1DAF-ACA8-4A0B-F5BF-5B9E4EFD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843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7456-1F34-281C-28D5-F2F79E42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0045-62BA-03C6-0B66-A8EBB1C12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853D2-4661-02D6-5B5D-FE1D4792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BBCD-901F-C3B7-D0D5-074C241B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3BCD6-EA63-2CEB-EECF-86A67701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233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49CD-5059-2ADD-EF03-47B738EDB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5DB16-C30F-06BB-F798-14B43B7D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E1764-093E-A811-0436-DE8A26B2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F647-5F47-11DC-2161-07A5A7AF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6E32B-B83E-2DA0-56A6-51A1B60D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770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5351-CAF5-71C8-3BCD-646C7DD8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CB926-2109-ADF4-A585-8FFB27689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AC777-4D18-D58C-6880-3BCC6005A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E275E-288E-9666-5E6A-F35D78E8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79267-404D-5C01-7642-17BAE54B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10D9F-23DA-4486-51E0-DDBB2AE2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503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C49C-C01D-44E7-0658-AC839579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39DDD-7F86-3785-591F-E86B1B98A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8536A-9387-70DB-19AD-D4BD015D9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5C1EE-7547-632F-6FCB-32319FA94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1DC9A-2036-2F10-690E-AFA8379E1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F1BBF-86DB-8AA2-C47A-2D412C3B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FB927-E5E0-97AE-4135-E408229A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17A93-D80E-DE56-A0B9-CF3DAA01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987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222E-2122-BF86-6DB2-CD01A110A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83B2C-902F-2592-6727-B1A4DE12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FFC00-A9D0-1217-0C46-71BABA8C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DF4E6-772C-1BCA-4C17-0EF1EA92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695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8812F-C46F-43CF-69C1-FCC594A5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C362B-BE24-621C-D3AB-8B2C8B7A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BA50E-F882-B771-0C0E-D5C58A25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164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80DE-2532-24B9-AD1A-0772345C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C05C8-2690-62FC-211C-2BB31023A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F34AF-42AE-4720-9C58-74AD5C83B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D9750-5154-B669-3BB0-F034F12E3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EEB80-569D-A070-6A71-7B2DB50F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CBAF9-0136-6D78-82D5-4FFE04E8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825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55D8-ADF2-1FB3-06B1-0A74287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D57D0-4E0D-8A4A-B8A1-1CEE02FB7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C4BB6-CD7A-018A-3DAD-86134E1C2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2D398-6144-4399-A834-823A8F5C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C9467-68CB-683C-7C4F-C9F0FAA1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9629D-3079-969C-CA1F-2A0D9811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411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8B35-71DA-093B-DBC1-7BE90E90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B7E35-C673-EE11-2F7A-67E39CF13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D54D3-70EA-A876-74AF-37754D0A1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ABDC8-B590-9945-FA50-EDCB1D37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68784-201D-7005-57B6-E331E1B6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338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884A1-F85E-0205-CCD9-4B87982A5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37ACA-1BEF-38C6-A87A-2A4BF9B64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2E5A6-292B-247A-1637-1B0A96B95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E8F2-2F77-787F-8E2F-428936C5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EB801-7316-FC99-88DD-1B73C5CA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453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91415-5E95-DEE9-69BA-3A484F5D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D2089-5ECB-F678-E135-FD5159928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CAE52-DAE9-115C-BD04-D0CED81EC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14C14-AB49-4F78-80C4-B0418995E901}" type="datetimeFigureOut">
              <a:rPr lang="en-ID" smtClean="0"/>
              <a:t>24/06/2026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7466C-F585-BD9A-0F38-BBE06F9D5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0016B-C91A-5E5A-D2FA-ACA5012C2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535AA-472D-4E90-9380-BC614B657F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382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A658-882F-B137-5ED5-6B27D2393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PertaAcoustic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7DE45-3D30-715B-3307-F112485BB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Desain hardware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72789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37774-59B6-7308-C7A9-DB225809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Skema data logger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66F20-8D1D-B690-5DFC-462B97D08633}"/>
              </a:ext>
            </a:extLst>
          </p:cNvPr>
          <p:cNvSpPr txBox="1"/>
          <p:nvPr/>
        </p:nvSpPr>
        <p:spPr>
          <a:xfrm>
            <a:off x="644015" y="3529230"/>
            <a:ext cx="1262458" cy="52322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Sensor</a:t>
            </a:r>
            <a:endParaRPr lang="en-ID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5B6A8-9D13-C8A5-F708-1CEE5B73A0E7}"/>
              </a:ext>
            </a:extLst>
          </p:cNvPr>
          <p:cNvSpPr txBox="1"/>
          <p:nvPr/>
        </p:nvSpPr>
        <p:spPr>
          <a:xfrm>
            <a:off x="2577597" y="2578388"/>
            <a:ext cx="3518403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Signal </a:t>
            </a:r>
            <a:r>
              <a:rPr lang="en-US" sz="2800" dirty="0" err="1"/>
              <a:t>coditioning</a:t>
            </a:r>
            <a:endParaRPr lang="en-ID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D0E21-E4D3-710D-F72B-C12DE2BF2A99}"/>
              </a:ext>
            </a:extLst>
          </p:cNvPr>
          <p:cNvSpPr txBox="1"/>
          <p:nvPr/>
        </p:nvSpPr>
        <p:spPr>
          <a:xfrm>
            <a:off x="2577597" y="3529230"/>
            <a:ext cx="1342248" cy="52322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Op amp</a:t>
            </a:r>
            <a:endParaRPr lang="en-ID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134FA-4DE7-888D-E391-F4507B4A21E4}"/>
              </a:ext>
            </a:extLst>
          </p:cNvPr>
          <p:cNvSpPr txBox="1"/>
          <p:nvPr/>
        </p:nvSpPr>
        <p:spPr>
          <a:xfrm>
            <a:off x="4406313" y="3313786"/>
            <a:ext cx="1689687" cy="95410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Analog Filter</a:t>
            </a:r>
            <a:endParaRPr lang="en-ID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82325-7677-8243-F66B-E23074E61828}"/>
              </a:ext>
            </a:extLst>
          </p:cNvPr>
          <p:cNvSpPr txBox="1"/>
          <p:nvPr/>
        </p:nvSpPr>
        <p:spPr>
          <a:xfrm>
            <a:off x="6675846" y="3529230"/>
            <a:ext cx="1157592" cy="52322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ADC</a:t>
            </a:r>
            <a:endParaRPr lang="en-ID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143022-0BBD-9D05-4AC5-9715DDD41CEE}"/>
              </a:ext>
            </a:extLst>
          </p:cNvPr>
          <p:cNvSpPr txBox="1"/>
          <p:nvPr/>
        </p:nvSpPr>
        <p:spPr>
          <a:xfrm>
            <a:off x="8389733" y="3529230"/>
            <a:ext cx="950816" cy="52322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MCU</a:t>
            </a:r>
            <a:endParaRPr lang="en-ID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3ABBA5-9B8C-A02D-E4A2-BD47D07F21AE}"/>
              </a:ext>
            </a:extLst>
          </p:cNvPr>
          <p:cNvSpPr txBox="1"/>
          <p:nvPr/>
        </p:nvSpPr>
        <p:spPr>
          <a:xfrm>
            <a:off x="9778988" y="3529230"/>
            <a:ext cx="1460771" cy="52322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SD Card</a:t>
            </a:r>
            <a:endParaRPr lang="en-ID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BF920-30D6-E497-91D9-BAE6A34AF8B4}"/>
              </a:ext>
            </a:extLst>
          </p:cNvPr>
          <p:cNvSpPr txBox="1"/>
          <p:nvPr/>
        </p:nvSpPr>
        <p:spPr>
          <a:xfrm>
            <a:off x="8473046" y="2508655"/>
            <a:ext cx="784190" cy="52322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RTC</a:t>
            </a:r>
            <a:endParaRPr lang="en-ID" sz="28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674E3A-C401-48F9-C2D8-7BDA63153DD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906473" y="3790840"/>
            <a:ext cx="6711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37B7B8-AF76-7EF0-F15C-7773E3FD77CD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3919845" y="3790840"/>
            <a:ext cx="486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D863B6-6247-17FF-3CC2-A0CA7001D206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096000" y="3790840"/>
            <a:ext cx="579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55CF6F-AA8B-6B70-2E26-6FE1E3E0F99D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7833438" y="3790840"/>
            <a:ext cx="5562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F7C99F-562E-8770-2EF0-4948F2E7FDDD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9340549" y="3790840"/>
            <a:ext cx="438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F56BC9F-5D36-18A4-91E5-5381C5714926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>
            <a:off x="8865141" y="3031875"/>
            <a:ext cx="0" cy="497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625425B-C359-5ED7-614D-4BFBDFE6F74F}"/>
              </a:ext>
            </a:extLst>
          </p:cNvPr>
          <p:cNvSpPr txBox="1"/>
          <p:nvPr/>
        </p:nvSpPr>
        <p:spPr>
          <a:xfrm>
            <a:off x="3344630" y="5201760"/>
            <a:ext cx="476695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Power Management</a:t>
            </a:r>
            <a:endParaRPr lang="en-ID" sz="28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0BCCFED-D0F4-EC4D-28DF-CE156A632272}"/>
              </a:ext>
            </a:extLst>
          </p:cNvPr>
          <p:cNvCxnSpPr>
            <a:stCxn id="36" idx="0"/>
          </p:cNvCxnSpPr>
          <p:nvPr/>
        </p:nvCxnSpPr>
        <p:spPr>
          <a:xfrm flipV="1">
            <a:off x="5728108" y="4480071"/>
            <a:ext cx="11211" cy="721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45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5E15-7A7D-4A1B-C576-7015BCB4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ABCB9-F26C-CC74-5896-DC6F46BCF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1338262"/>
            <a:ext cx="71342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6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C6D27A-D26B-7223-375D-2BD1DF895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44" y="1598521"/>
            <a:ext cx="4993532" cy="48072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BAB1F4-CF45-81C5-E8A5-F0910D3DC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366" y="1598521"/>
            <a:ext cx="6178482" cy="46149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FDFAD49-5994-7E41-DC4A-A07EFB14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Sensor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4948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9AE0FF6-3496-BF2A-C868-5C949CF06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0736"/>
            <a:ext cx="5511248" cy="10219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9EBDD4C-8D11-3EE9-B744-009F07735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16" y="3581400"/>
            <a:ext cx="4356698" cy="3276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DC0056-A6DD-3B89-64C5-4C00B62D9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31" y="906286"/>
            <a:ext cx="3603867" cy="26699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F1E391-F6FA-7BA9-2028-87FB25D9A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560" y="2199981"/>
            <a:ext cx="4862124" cy="47310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1F2B0B-2373-F93C-19EA-165B9F65C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9224" y="1417284"/>
            <a:ext cx="1628775" cy="146685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80017FF-7CD7-C858-B9D6-AB20FF95D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ADC </a:t>
            </a:r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3502D3-0EEB-5653-9B78-44B470641359}"/>
              </a:ext>
            </a:extLst>
          </p:cNvPr>
          <p:cNvSpPr txBox="1"/>
          <p:nvPr/>
        </p:nvSpPr>
        <p:spPr>
          <a:xfrm>
            <a:off x="3632371" y="1230030"/>
            <a:ext cx="1785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–25°C to 85°C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72A1DF-81A1-06DC-3870-FF985C4F1F7E}"/>
              </a:ext>
            </a:extLst>
          </p:cNvPr>
          <p:cNvSpPr txBox="1"/>
          <p:nvPr/>
        </p:nvSpPr>
        <p:spPr>
          <a:xfrm>
            <a:off x="10460832" y="1719342"/>
            <a:ext cx="1785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–25°C to 85°C</a:t>
            </a:r>
          </a:p>
        </p:txBody>
      </p:sp>
    </p:spTree>
    <p:extLst>
      <p:ext uri="{BB962C8B-B14F-4D97-AF65-F5344CB8AC3E}">
        <p14:creationId xmlns:p14="http://schemas.microsoft.com/office/powerpoint/2010/main" val="304280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7531-6859-E6AF-5651-FB0FB1E7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MCU</a:t>
            </a:r>
            <a:endParaRPr lang="en-ID" dirty="0"/>
          </a:p>
        </p:txBody>
      </p:sp>
      <p:pic>
        <p:nvPicPr>
          <p:cNvPr id="2050" name="Picture 2" descr="Arm Cortex-M7 - Microcontrollers - STMicroelectronics">
            <a:extLst>
              <a:ext uri="{FF2B5EF4-FFF2-40B4-BE49-F238E27FC236}">
                <a16:creationId xmlns:a16="http://schemas.microsoft.com/office/drawing/2014/main" id="{DA126844-ECCA-E659-F4D5-9CB23BE8C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72" y="1690688"/>
            <a:ext cx="2714625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BC9113-F192-2EA5-7EB1-29AC3A408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5400000">
            <a:off x="4735918" y="1397000"/>
            <a:ext cx="4351338" cy="43513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3E9115B-DEE2-389E-A223-F2824E4C0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978" y="410949"/>
            <a:ext cx="5070305" cy="9402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65A257A-075A-8E2D-AB34-300D82BC7470}"/>
              </a:ext>
            </a:extLst>
          </p:cNvPr>
          <p:cNvSpPr txBox="1"/>
          <p:nvPr/>
        </p:nvSpPr>
        <p:spPr>
          <a:xfrm>
            <a:off x="2910497" y="2345117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Dimensi</a:t>
            </a:r>
            <a:r>
              <a:rPr lang="en-US" dirty="0"/>
              <a:t>:</a:t>
            </a:r>
            <a:endParaRPr lang="en-ID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4E3F95-4B6D-EAE3-1F52-DCC1C5F1D527}"/>
              </a:ext>
            </a:extLst>
          </p:cNvPr>
          <p:cNvSpPr txBox="1"/>
          <p:nvPr/>
        </p:nvSpPr>
        <p:spPr>
          <a:xfrm>
            <a:off x="2910497" y="2782669"/>
            <a:ext cx="1675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Frekuensi</a:t>
            </a:r>
            <a:r>
              <a:rPr lang="en-US" dirty="0"/>
              <a:t> clock:</a:t>
            </a:r>
          </a:p>
          <a:p>
            <a:endParaRPr lang="en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32392E-FD80-6310-BBB5-E56D14FB329F}"/>
              </a:ext>
            </a:extLst>
          </p:cNvPr>
          <p:cNvSpPr txBox="1"/>
          <p:nvPr/>
        </p:nvSpPr>
        <p:spPr>
          <a:xfrm>
            <a:off x="2910497" y="1837706"/>
            <a:ext cx="120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Spesifikasi</a:t>
            </a:r>
            <a:r>
              <a:rPr lang="en-US" dirty="0"/>
              <a:t>:</a:t>
            </a:r>
            <a:endParaRPr lang="en-ID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906ABD-3123-D7D2-DF39-1A26821351F2}"/>
              </a:ext>
            </a:extLst>
          </p:cNvPr>
          <p:cNvSpPr txBox="1"/>
          <p:nvPr/>
        </p:nvSpPr>
        <p:spPr>
          <a:xfrm>
            <a:off x="2910497" y="256673"/>
            <a:ext cx="50194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Arsitektur</a:t>
            </a:r>
            <a:r>
              <a:rPr lang="en-US" sz="2400" b="1" dirty="0"/>
              <a:t> 32 bit</a:t>
            </a:r>
          </a:p>
          <a:p>
            <a:r>
              <a:rPr lang="en-US" sz="2400" b="1" dirty="0"/>
              <a:t>Support : I2S communication</a:t>
            </a:r>
          </a:p>
          <a:p>
            <a:r>
              <a:rPr lang="en-US" sz="2400" b="1" dirty="0"/>
              <a:t>	     SPI communication</a:t>
            </a:r>
            <a:endParaRPr lang="en-ID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4D46CF-33AE-5085-FD5C-4A04852C5F4D}"/>
              </a:ext>
            </a:extLst>
          </p:cNvPr>
          <p:cNvSpPr txBox="1"/>
          <p:nvPr/>
        </p:nvSpPr>
        <p:spPr>
          <a:xfrm>
            <a:off x="890432" y="137754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STM32</a:t>
            </a:r>
            <a:endParaRPr lang="en-ID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3610AD-2EF9-1BEF-2664-DC9CE8EB33F0}"/>
              </a:ext>
            </a:extLst>
          </p:cNvPr>
          <p:cNvSpPr txBox="1"/>
          <p:nvPr/>
        </p:nvSpPr>
        <p:spPr>
          <a:xfrm>
            <a:off x="6160966" y="1491112"/>
            <a:ext cx="753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ESP32</a:t>
            </a:r>
            <a:endParaRPr lang="en-ID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9AA5D-9385-AF19-D861-43668B5C94BC}"/>
              </a:ext>
            </a:extLst>
          </p:cNvPr>
          <p:cNvSpPr txBox="1"/>
          <p:nvPr/>
        </p:nvSpPr>
        <p:spPr>
          <a:xfrm>
            <a:off x="195872" y="6133882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Sans Variable"/>
              </a:rPr>
              <a:t>extended ambient temperature range up to 125 °C with junction temperature range up to 140°C.</a:t>
            </a:r>
            <a:endParaRPr lang="en-ID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326847-A6A2-0915-F680-798A6085ABB6}"/>
              </a:ext>
            </a:extLst>
          </p:cNvPr>
          <p:cNvSpPr txBox="1"/>
          <p:nvPr/>
        </p:nvSpPr>
        <p:spPr>
          <a:xfrm>
            <a:off x="7869600" y="4975857"/>
            <a:ext cx="3666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D" b="1" i="0" dirty="0">
                <a:solidFill>
                  <a:srgbClr val="000000"/>
                </a:solidFill>
                <a:effectLst/>
                <a:latin typeface="Segoe Sans Variable"/>
              </a:rPr>
              <a:t>Maximum Temperature</a:t>
            </a:r>
            <a:r>
              <a:rPr lang="en-ID" b="0" i="0" dirty="0">
                <a:solidFill>
                  <a:srgbClr val="000000"/>
                </a:solidFill>
                <a:effectLst/>
                <a:latin typeface="Segoe Sans Variable"/>
              </a:rPr>
              <a:t>: +125°C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A896A4-78BE-1369-302F-C707A42CBE26}"/>
              </a:ext>
            </a:extLst>
          </p:cNvPr>
          <p:cNvSpPr txBox="1"/>
          <p:nvPr/>
        </p:nvSpPr>
        <p:spPr>
          <a:xfrm>
            <a:off x="7929970" y="4606525"/>
            <a:ext cx="9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IC ESP32</a:t>
            </a:r>
            <a:endParaRPr lang="en-ID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904B52-9A98-59E3-B3AF-F820155F6991}"/>
              </a:ext>
            </a:extLst>
          </p:cNvPr>
          <p:cNvSpPr txBox="1"/>
          <p:nvPr/>
        </p:nvSpPr>
        <p:spPr>
          <a:xfrm>
            <a:off x="195872" y="5820738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IC STM32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991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7FEAFF9-B599-F85A-563D-653318041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696" y="458459"/>
            <a:ext cx="6489836" cy="1203462"/>
          </a:xfrm>
          <a:prstGeom prst="rect">
            <a:avLst/>
          </a:prstGeom>
        </p:spPr>
      </p:pic>
      <p:sp>
        <p:nvSpPr>
          <p:cNvPr id="19" name="AutoShape 2" descr="SanDisk Industrial MicroSDHC Class 10">
            <a:extLst>
              <a:ext uri="{FF2B5EF4-FFF2-40B4-BE49-F238E27FC236}">
                <a16:creationId xmlns:a16="http://schemas.microsoft.com/office/drawing/2014/main" id="{EBB2A49E-D73B-E863-BE24-380675F542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BA4165-B206-819A-F642-885FD3364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28" y="1900339"/>
            <a:ext cx="3057322" cy="3057322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AE94DF6-B6DD-CB7E-05CC-050021A27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24328"/>
              </p:ext>
            </p:extLst>
          </p:nvPr>
        </p:nvGraphicFramePr>
        <p:xfrm>
          <a:off x="4359613" y="2127857"/>
          <a:ext cx="2206557" cy="365760"/>
        </p:xfrm>
        <a:graphic>
          <a:graphicData uri="http://schemas.openxmlformats.org/drawingml/2006/table">
            <a:tbl>
              <a:tblPr/>
              <a:tblGrid>
                <a:gridCol w="2206557">
                  <a:extLst>
                    <a:ext uri="{9D8B030D-6E8A-4147-A177-3AD203B41FA5}">
                      <a16:colId xmlns:a16="http://schemas.microsoft.com/office/drawing/2014/main" val="220723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D" dirty="0" err="1"/>
                        <a:t>Suhu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kerja</a:t>
                      </a:r>
                      <a:endParaRPr lang="en-ID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46301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324D5E9-D18D-2081-3744-514705878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605472"/>
              </p:ext>
            </p:extLst>
          </p:nvPr>
        </p:nvGraphicFramePr>
        <p:xfrm>
          <a:off x="4359613" y="2593793"/>
          <a:ext cx="2537297" cy="365760"/>
        </p:xfrm>
        <a:graphic>
          <a:graphicData uri="http://schemas.openxmlformats.org/drawingml/2006/table">
            <a:tbl>
              <a:tblPr/>
              <a:tblGrid>
                <a:gridCol w="2537297">
                  <a:extLst>
                    <a:ext uri="{9D8B030D-6E8A-4147-A177-3AD203B41FA5}">
                      <a16:colId xmlns:a16="http://schemas.microsoft.com/office/drawing/2014/main" val="1582240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D" dirty="0"/>
                        <a:t>-40°C </a:t>
                      </a:r>
                      <a:r>
                        <a:rPr lang="en-ID" dirty="0" err="1"/>
                        <a:t>hingga</a:t>
                      </a:r>
                      <a:r>
                        <a:rPr lang="en-ID" dirty="0"/>
                        <a:t> +85°C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403161"/>
                  </a:ext>
                </a:extLst>
              </a:tr>
            </a:tbl>
          </a:graphicData>
        </a:graphic>
      </p:graphicFrame>
      <p:sp>
        <p:nvSpPr>
          <p:cNvPr id="23" name="AutoShape 4" descr="How to use SD Card with Arduino - NerdyElectronics">
            <a:extLst>
              <a:ext uri="{FF2B5EF4-FFF2-40B4-BE49-F238E27FC236}">
                <a16:creationId xmlns:a16="http://schemas.microsoft.com/office/drawing/2014/main" id="{342D0EFD-2597-5615-1164-9644BAAE00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670D8C-3343-392B-EDA8-7F96D80C1A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629"/>
          <a:stretch/>
        </p:blipFill>
        <p:spPr>
          <a:xfrm>
            <a:off x="7085182" y="1584664"/>
            <a:ext cx="4004956" cy="368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9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F4F3456-6955-4217-B4EE-9EE615078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530" y="345403"/>
            <a:ext cx="6530607" cy="1211022"/>
          </a:xfrm>
          <a:prstGeom prst="rect">
            <a:avLst/>
          </a:prstGeom>
        </p:spPr>
      </p:pic>
      <p:sp>
        <p:nvSpPr>
          <p:cNvPr id="19" name="AutoShape 2" descr="How to use SD Card with Arduino - NerdyElectronics">
            <a:extLst>
              <a:ext uri="{FF2B5EF4-FFF2-40B4-BE49-F238E27FC236}">
                <a16:creationId xmlns:a16="http://schemas.microsoft.com/office/drawing/2014/main" id="{B4888B04-35E1-D7ED-BD2F-B44026B82A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4100" name="Picture 4" descr="DS1307 IC Real Time Clock RTC DIP-8">
            <a:extLst>
              <a:ext uri="{FF2B5EF4-FFF2-40B4-BE49-F238E27FC236}">
                <a16:creationId xmlns:a16="http://schemas.microsoft.com/office/drawing/2014/main" id="{FF2EDA58-664D-59DE-26C1-3F44EAC34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550" y="1984442"/>
            <a:ext cx="4440606" cy="444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46D86E2-EB8D-A70E-DFEF-50B8F2E99E6E}"/>
              </a:ext>
            </a:extLst>
          </p:cNvPr>
          <p:cNvSpPr txBox="1"/>
          <p:nvPr/>
        </p:nvSpPr>
        <p:spPr>
          <a:xfrm>
            <a:off x="6403232" y="3059668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0°C to +70°C</a:t>
            </a:r>
          </a:p>
        </p:txBody>
      </p:sp>
    </p:spTree>
    <p:extLst>
      <p:ext uri="{BB962C8B-B14F-4D97-AF65-F5344CB8AC3E}">
        <p14:creationId xmlns:p14="http://schemas.microsoft.com/office/powerpoint/2010/main" val="395654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62E9-9B04-0CB1-2051-848D3234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Batere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F048-AB21-7EC1-89C9-23DF3D327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13142" cy="4351338"/>
          </a:xfrm>
        </p:spPr>
        <p:txBody>
          <a:bodyPr/>
          <a:lstStyle/>
          <a:p>
            <a:r>
              <a:rPr lang="en-ID" dirty="0"/>
              <a:t>Lithium Thionyl Chloride (Li-</a:t>
            </a:r>
            <a:r>
              <a:rPr lang="en-ID" dirty="0" err="1"/>
              <a:t>SOCl</a:t>
            </a:r>
            <a:r>
              <a:rPr lang="en-ID" dirty="0"/>
              <a:t>₂)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7484E-0E87-3F31-A0B0-5D5C2330B8B8}"/>
              </a:ext>
            </a:extLst>
          </p:cNvPr>
          <p:cNvSpPr txBox="1"/>
          <p:nvPr/>
        </p:nvSpPr>
        <p:spPr>
          <a:xfrm>
            <a:off x="4097777" y="1913174"/>
            <a:ext cx="3013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rgbClr val="3C51B4"/>
                </a:solidFill>
                <a:effectLst/>
                <a:latin typeface="Segoe Sans Variable"/>
              </a:rPr>
              <a:t>Lithium-titanate battery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1A5B7-BF10-2996-EEBC-1B5EC3F95B25}"/>
              </a:ext>
            </a:extLst>
          </p:cNvPr>
          <p:cNvSpPr txBox="1"/>
          <p:nvPr/>
        </p:nvSpPr>
        <p:spPr>
          <a:xfrm>
            <a:off x="8180961" y="1825625"/>
            <a:ext cx="3013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i="0" dirty="0">
                <a:solidFill>
                  <a:srgbClr val="3C51B4"/>
                </a:solidFill>
                <a:effectLst/>
                <a:latin typeface="Segoe Sans Variable"/>
              </a:rPr>
              <a:t>Lithium-polymer </a:t>
            </a:r>
            <a:r>
              <a:rPr lang="en-ID" dirty="0" err="1"/>
              <a:t>LiFePO</a:t>
            </a:r>
            <a:r>
              <a:rPr lang="en-ID" dirty="0"/>
              <a:t>₄</a:t>
            </a:r>
            <a:r>
              <a:rPr lang="en-ID" b="1" i="0" dirty="0">
                <a:solidFill>
                  <a:srgbClr val="3C51B4"/>
                </a:solidFill>
                <a:effectLst/>
                <a:latin typeface="Segoe Sans Variable"/>
              </a:rPr>
              <a:t> </a:t>
            </a:r>
            <a:endParaRPr lang="en-ID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32D339-7AD8-72F7-324C-795B142CC70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96384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55824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F9FD27-74C9-6555-F540-728FADCC63CD}"/>
              </a:ext>
            </a:extLst>
          </p:cNvPr>
          <p:cNvSpPr txBox="1"/>
          <p:nvPr/>
        </p:nvSpPr>
        <p:spPr>
          <a:xfrm>
            <a:off x="3190672" y="5438299"/>
            <a:ext cx="523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BMS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05AB05-4479-C4E9-064D-B4014767CDB9}"/>
              </a:ext>
            </a:extLst>
          </p:cNvPr>
          <p:cNvSpPr txBox="1"/>
          <p:nvPr/>
        </p:nvSpPr>
        <p:spPr>
          <a:xfrm>
            <a:off x="1741251" y="3818414"/>
            <a:ext cx="203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34696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3A37-EA02-CC0F-8393-1569A5B4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2FE13D-A8E2-6491-500E-E17D3CBE1FDD}"/>
              </a:ext>
            </a:extLst>
          </p:cNvPr>
          <p:cNvSpPr txBox="1"/>
          <p:nvPr/>
        </p:nvSpPr>
        <p:spPr>
          <a:xfrm>
            <a:off x="710119" y="1867711"/>
            <a:ext cx="81712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Standard FR-4</a:t>
            </a:r>
            <a:r>
              <a:rPr lang="en-US" dirty="0"/>
              <a:t>: Maximum continuous safe operating temperature is ≈ 90 °C - 110 °C.</a:t>
            </a:r>
          </a:p>
          <a:p>
            <a:endParaRPr lang="en-US" dirty="0"/>
          </a:p>
          <a:p>
            <a:r>
              <a:rPr lang="en-US" b="1" dirty="0"/>
              <a:t>High-</a:t>
            </a:r>
            <a:r>
              <a:rPr lang="en-US" b="1" dirty="0" err="1"/>
              <a:t>Tg</a:t>
            </a:r>
            <a:r>
              <a:rPr lang="en-US" b="1" dirty="0"/>
              <a:t> Materials</a:t>
            </a:r>
            <a:r>
              <a:rPr lang="en-US" dirty="0"/>
              <a:t>: Materials like ISOLA IS410, ITEQ IT-180A, or Arlon 85N feature a temperature ~150 °C</a:t>
            </a:r>
          </a:p>
          <a:p>
            <a:endParaRPr lang="en-US" dirty="0"/>
          </a:p>
          <a:p>
            <a:r>
              <a:rPr lang="en-US" b="1" dirty="0"/>
              <a:t>Ceramic &amp; Metal Core</a:t>
            </a:r>
            <a:r>
              <a:rPr lang="en-US" dirty="0"/>
              <a:t>: For temperatures up to 300 °C, direct copper bonding on ceramic avoids the degradation of organic resins.</a:t>
            </a:r>
          </a:p>
          <a:p>
            <a:endParaRPr lang="en-US" dirty="0"/>
          </a:p>
          <a:p>
            <a:r>
              <a:rPr lang="en-US" b="1" dirty="0"/>
              <a:t>Flexible PCBs</a:t>
            </a:r>
            <a:r>
              <a:rPr lang="en-US" dirty="0"/>
              <a:t>: Liquid Crystal Polymer (LCP) can withstand up to 250 °C, whereas standard flexible adhesives (like those on Kapton) fail around 230 °C.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1069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20A5-4C7B-D889-2627-213CD3F2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ENCLOSURE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5DF07-C62D-E705-AF50-08E2403AB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Harus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menahan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&lt; 70 C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~ 4 jam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89767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238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Sans Variable</vt:lpstr>
      <vt:lpstr>Office Theme</vt:lpstr>
      <vt:lpstr>PertaAcoustic</vt:lpstr>
      <vt:lpstr>Skema data logger</vt:lpstr>
      <vt:lpstr>Sensor </vt:lpstr>
      <vt:lpstr>Sensor </vt:lpstr>
      <vt:lpstr>ADC </vt:lpstr>
      <vt:lpstr>MCU</vt:lpstr>
      <vt:lpstr>PowerPoint Presentation</vt:lpstr>
      <vt:lpstr>PowerPoint Presentation</vt:lpstr>
      <vt:lpstr>Batere</vt:lpstr>
      <vt:lpstr>PCB</vt:lpstr>
      <vt:lpstr>ENCLOSURE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PertaAcoustic</dc:title>
  <dc:creator>Arief Rahmadi</dc:creator>
  <cp:lastModifiedBy>Arief Rahmadi</cp:lastModifiedBy>
  <cp:revision>1</cp:revision>
  <dcterms:created xsi:type="dcterms:W3CDTF">2026-06-24T15:52:04Z</dcterms:created>
  <dcterms:modified xsi:type="dcterms:W3CDTF">2026-06-24T17:26:35Z</dcterms:modified>
</cp:coreProperties>
</file>