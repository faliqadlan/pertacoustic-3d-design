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3" r:id="rId3"/>
    <p:sldId id="405" r:id="rId4"/>
    <p:sldId id="267" r:id="rId5"/>
    <p:sldId id="403" r:id="rId6"/>
    <p:sldId id="262" r:id="rId7"/>
    <p:sldId id="269" r:id="rId8"/>
    <p:sldId id="263" r:id="rId9"/>
    <p:sldId id="404" r:id="rId10"/>
    <p:sldId id="387" r:id="rId11"/>
    <p:sldId id="259" r:id="rId12"/>
    <p:sldId id="402" r:id="rId13"/>
    <p:sldId id="272" r:id="rId14"/>
    <p:sldId id="270" r:id="rId15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99"/>
    <a:srgbClr val="00CCFF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o Adi Putranto" userId="3d1180bd-9356-434d-a2e9-1d83d72199ce" providerId="ADAL" clId="{619BE944-44B8-45E9-941D-29E4C94E1AA3}"/>
  </pc:docChgLst>
  <pc:docChgLst>
    <pc:chgData name="Suryo Adi Putranto" userId="3d1180bd-9356-434d-a2e9-1d83d72199ce" providerId="ADAL" clId="{20FC058B-70CF-44F4-A5F1-DE33B6E24631}"/>
    <pc:docChg chg="undo custSel addSld delSld modSld sldOrd">
      <pc:chgData name="Suryo Adi Putranto" userId="3d1180bd-9356-434d-a2e9-1d83d72199ce" providerId="ADAL" clId="{20FC058B-70CF-44F4-A5F1-DE33B6E24631}" dt="2026-02-09T02:29:52.229" v="135" actId="1076"/>
      <pc:docMkLst>
        <pc:docMk/>
      </pc:docMkLst>
      <pc:sldChg chg="addSp delSp modSp">
        <pc:chgData name="Suryo Adi Putranto" userId="3d1180bd-9356-434d-a2e9-1d83d72199ce" providerId="ADAL" clId="{20FC058B-70CF-44F4-A5F1-DE33B6E24631}" dt="2026-02-09T02:29:06.175" v="128" actId="20577"/>
        <pc:sldMkLst>
          <pc:docMk/>
          <pc:sldMk cId="2557981270" sldId="263"/>
        </pc:sldMkLst>
        <pc:spChg chg="mod">
          <ac:chgData name="Suryo Adi Putranto" userId="3d1180bd-9356-434d-a2e9-1d83d72199ce" providerId="ADAL" clId="{20FC058B-70CF-44F4-A5F1-DE33B6E24631}" dt="2026-02-09T02:29:06.175" v="128" actId="20577"/>
          <ac:spMkLst>
            <pc:docMk/>
            <pc:sldMk cId="2557981270" sldId="263"/>
            <ac:spMk id="3" creationId="{7A480F06-12C2-4475-A7F7-2C03674D4B08}"/>
          </ac:spMkLst>
        </pc:spChg>
        <pc:spChg chg="del">
          <ac:chgData name="Suryo Adi Putranto" userId="3d1180bd-9356-434d-a2e9-1d83d72199ce" providerId="ADAL" clId="{20FC058B-70CF-44F4-A5F1-DE33B6E24631}" dt="2026-02-09T02:28:54.652" v="124" actId="478"/>
          <ac:spMkLst>
            <pc:docMk/>
            <pc:sldMk cId="2557981270" sldId="263"/>
            <ac:spMk id="12" creationId="{FBCFF0E7-B2B1-42C4-94DD-1C3BD32E9FB6}"/>
          </ac:spMkLst>
        </pc:spChg>
        <pc:spChg chg="mod">
          <ac:chgData name="Suryo Adi Putranto" userId="3d1180bd-9356-434d-a2e9-1d83d72199ce" providerId="ADAL" clId="{20FC058B-70CF-44F4-A5F1-DE33B6E24631}" dt="2026-02-03T03:46:38.210" v="31" actId="20577"/>
          <ac:spMkLst>
            <pc:docMk/>
            <pc:sldMk cId="2557981270" sldId="263"/>
            <ac:spMk id="16" creationId="{7BCA4777-8CA2-447D-B290-51A16EA131B9}"/>
          </ac:spMkLst>
        </pc:spChg>
        <pc:spChg chg="add mod">
          <ac:chgData name="Suryo Adi Putranto" userId="3d1180bd-9356-434d-a2e9-1d83d72199ce" providerId="ADAL" clId="{20FC058B-70CF-44F4-A5F1-DE33B6E24631}" dt="2026-02-03T03:47:45.298" v="40" actId="20577"/>
          <ac:spMkLst>
            <pc:docMk/>
            <pc:sldMk cId="2557981270" sldId="263"/>
            <ac:spMk id="17" creationId="{82F63F9A-F0A0-4050-9CC7-F58E787AB93F}"/>
          </ac:spMkLst>
        </pc:spChg>
        <pc:picChg chg="add mod">
          <ac:chgData name="Suryo Adi Putranto" userId="3d1180bd-9356-434d-a2e9-1d83d72199ce" providerId="ADAL" clId="{20FC058B-70CF-44F4-A5F1-DE33B6E24631}" dt="2026-02-03T03:46:06.065" v="21" actId="14100"/>
          <ac:picMkLst>
            <pc:docMk/>
            <pc:sldMk cId="2557981270" sldId="263"/>
            <ac:picMk id="9" creationId="{EC005638-E283-440A-9563-974AA7C5E9A1}"/>
          </ac:picMkLst>
        </pc:picChg>
        <pc:picChg chg="del">
          <ac:chgData name="Suryo Adi Putranto" userId="3d1180bd-9356-434d-a2e9-1d83d72199ce" providerId="ADAL" clId="{20FC058B-70CF-44F4-A5F1-DE33B6E24631}" dt="2026-02-03T03:45:48.809" v="15" actId="478"/>
          <ac:picMkLst>
            <pc:docMk/>
            <pc:sldMk cId="2557981270" sldId="263"/>
            <ac:picMk id="13" creationId="{E9B9799E-FA84-42D8-928B-8134414D1C0F}"/>
          </ac:picMkLst>
        </pc:picChg>
      </pc:sldChg>
      <pc:sldChg chg="addSp delSp modSp">
        <pc:chgData name="Suryo Adi Putranto" userId="3d1180bd-9356-434d-a2e9-1d83d72199ce" providerId="ADAL" clId="{20FC058B-70CF-44F4-A5F1-DE33B6E24631}" dt="2026-02-03T04:04:58.657" v="76" actId="14100"/>
        <pc:sldMkLst>
          <pc:docMk/>
          <pc:sldMk cId="639869659" sldId="273"/>
        </pc:sldMkLst>
        <pc:spChg chg="mod">
          <ac:chgData name="Suryo Adi Putranto" userId="3d1180bd-9356-434d-a2e9-1d83d72199ce" providerId="ADAL" clId="{20FC058B-70CF-44F4-A5F1-DE33B6E24631}" dt="2026-02-03T03:49:51.386" v="53" actId="20577"/>
          <ac:spMkLst>
            <pc:docMk/>
            <pc:sldMk cId="639869659" sldId="273"/>
            <ac:spMk id="13" creationId="{910BBBEF-D8AA-4C91-B237-6B7A27E27976}"/>
          </ac:spMkLst>
        </pc:spChg>
        <pc:spChg chg="mod">
          <ac:chgData name="Suryo Adi Putranto" userId="3d1180bd-9356-434d-a2e9-1d83d72199ce" providerId="ADAL" clId="{20FC058B-70CF-44F4-A5F1-DE33B6E24631}" dt="2026-02-03T03:49:36.532" v="51" actId="14100"/>
          <ac:spMkLst>
            <pc:docMk/>
            <pc:sldMk cId="639869659" sldId="273"/>
            <ac:spMk id="15" creationId="{00000000-0000-0000-0000-000000000000}"/>
          </ac:spMkLst>
        </pc:spChg>
        <pc:picChg chg="add mod">
          <ac:chgData name="Suryo Adi Putranto" userId="3d1180bd-9356-434d-a2e9-1d83d72199ce" providerId="ADAL" clId="{20FC058B-70CF-44F4-A5F1-DE33B6E24631}" dt="2026-02-03T03:49:28.616" v="50"/>
          <ac:picMkLst>
            <pc:docMk/>
            <pc:sldMk cId="639869659" sldId="273"/>
            <ac:picMk id="3" creationId="{B0D37FBA-F391-4209-8FE0-06A6351F1E07}"/>
          </ac:picMkLst>
        </pc:picChg>
        <pc:picChg chg="del">
          <ac:chgData name="Suryo Adi Putranto" userId="3d1180bd-9356-434d-a2e9-1d83d72199ce" providerId="ADAL" clId="{20FC058B-70CF-44F4-A5F1-DE33B6E24631}" dt="2026-02-03T03:48:59.826" v="44" actId="478"/>
          <ac:picMkLst>
            <pc:docMk/>
            <pc:sldMk cId="639869659" sldId="273"/>
            <ac:picMk id="17" creationId="{DC64A2DD-C269-45BE-BFA0-7E2E6986CCA2}"/>
          </ac:picMkLst>
        </pc:picChg>
        <pc:picChg chg="add mod modCrop">
          <ac:chgData name="Suryo Adi Putranto" userId="3d1180bd-9356-434d-a2e9-1d83d72199ce" providerId="ADAL" clId="{20FC058B-70CF-44F4-A5F1-DE33B6E24631}" dt="2026-02-03T04:04:58.657" v="76" actId="14100"/>
          <ac:picMkLst>
            <pc:docMk/>
            <pc:sldMk cId="639869659" sldId="273"/>
            <ac:picMk id="18" creationId="{DB5CB1CE-7407-4213-8FA4-C73D09D230DC}"/>
          </ac:picMkLst>
        </pc:picChg>
      </pc:sldChg>
      <pc:sldChg chg="modSp add">
        <pc:chgData name="Suryo Adi Putranto" userId="3d1180bd-9356-434d-a2e9-1d83d72199ce" providerId="ADAL" clId="{20FC058B-70CF-44F4-A5F1-DE33B6E24631}" dt="2026-02-09T02:29:52.229" v="135" actId="1076"/>
        <pc:sldMkLst>
          <pc:docMk/>
          <pc:sldMk cId="1258795078" sldId="404"/>
        </pc:sldMkLst>
        <pc:picChg chg="mod modCrop">
          <ac:chgData name="Suryo Adi Putranto" userId="3d1180bd-9356-434d-a2e9-1d83d72199ce" providerId="ADAL" clId="{20FC058B-70CF-44F4-A5F1-DE33B6E24631}" dt="2026-02-09T02:29:52.229" v="135" actId="1076"/>
          <ac:picMkLst>
            <pc:docMk/>
            <pc:sldMk cId="1258795078" sldId="404"/>
            <ac:picMk id="7" creationId="{DD25EF1F-5381-448A-AB7A-36B1CC9AA12D}"/>
          </ac:picMkLst>
        </pc:picChg>
      </pc:sldChg>
      <pc:sldChg chg="addSp delSp modSp add ord modAnim">
        <pc:chgData name="Suryo Adi Putranto" userId="3d1180bd-9356-434d-a2e9-1d83d72199ce" providerId="ADAL" clId="{20FC058B-70CF-44F4-A5F1-DE33B6E24631}" dt="2026-02-04T03:12:12.886" v="121"/>
        <pc:sldMkLst>
          <pc:docMk/>
          <pc:sldMk cId="3015018020" sldId="405"/>
        </pc:sldMkLst>
        <pc:spChg chg="del">
          <ac:chgData name="Suryo Adi Putranto" userId="3d1180bd-9356-434d-a2e9-1d83d72199ce" providerId="ADAL" clId="{20FC058B-70CF-44F4-A5F1-DE33B6E24631}" dt="2026-02-04T03:11:13.017" v="79" actId="478"/>
          <ac:spMkLst>
            <pc:docMk/>
            <pc:sldMk cId="3015018020" sldId="405"/>
            <ac:spMk id="2" creationId="{BBBED486-5C87-45DC-9857-D2012051FBB0}"/>
          </ac:spMkLst>
        </pc:spChg>
        <pc:spChg chg="del">
          <ac:chgData name="Suryo Adi Putranto" userId="3d1180bd-9356-434d-a2e9-1d83d72199ce" providerId="ADAL" clId="{20FC058B-70CF-44F4-A5F1-DE33B6E24631}" dt="2026-02-04T03:11:18.996" v="80" actId="478"/>
          <ac:spMkLst>
            <pc:docMk/>
            <pc:sldMk cId="3015018020" sldId="405"/>
            <ac:spMk id="3" creationId="{0D17168C-94D3-4445-93AC-9E331589E6D7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25" creationId="{E0BE7D06-819C-47EC-ACA6-B4C6441A7DB0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26" creationId="{BE4C5401-4958-4CB2-9425-A44BDFFFF18C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27" creationId="{A760290A-9FC8-41EF-ABDB-6FD1D42A2124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28" creationId="{8706847B-944D-45DC-970A-0001F9875A27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31" creationId="{98E2182F-CA16-47CD-A4FA-8AD609422505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32" creationId="{0D95FDDB-5841-4294-A632-2450C8A301B2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33" creationId="{897FF77C-9B3B-4C2B-9435-F053F978CD41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34" creationId="{685F9DB9-A273-4FA7-8603-28E6DA9FDE74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35" creationId="{2C6407F6-87EF-49F6-864E-C9C09480F7ED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36" creationId="{1A09E1BB-2039-4D02-BD4D-438F191ABAF4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37" creationId="{0E496FAA-F0B5-4B64-9EF1-91D0430579DF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38" creationId="{68520322-20E9-4946-9435-87ED9917B2FA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42" creationId="{8BB7E38A-574A-4E8E-9783-468FCEA421DE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43" creationId="{43C0A08C-9D35-4A91-807D-6052E8547F6F}"/>
          </ac:spMkLst>
        </pc:spChg>
        <pc:spChg chg="add mod">
          <ac:chgData name="Suryo Adi Putranto" userId="3d1180bd-9356-434d-a2e9-1d83d72199ce" providerId="ADAL" clId="{20FC058B-70CF-44F4-A5F1-DE33B6E24631}" dt="2026-02-04T03:11:55.240" v="120" actId="1076"/>
          <ac:spMkLst>
            <pc:docMk/>
            <pc:sldMk cId="3015018020" sldId="405"/>
            <ac:spMk id="65" creationId="{04B94B32-2389-4668-87A8-A8B9593F1094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66" creationId="{F4D9B70B-1B24-4892-8E90-50A9C6DB1617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67" creationId="{4FC5308F-632F-49CA-9B42-51883E81AF17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86" creationId="{95804DFC-DEA2-4617-BCDE-0E355BC41E2F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87" creationId="{E6782A90-F492-4BF8-B296-FCB5B767405C}"/>
          </ac:spMkLst>
        </pc:spChg>
        <pc:spChg chg="add">
          <ac:chgData name="Suryo Adi Putranto" userId="3d1180bd-9356-434d-a2e9-1d83d72199ce" providerId="ADAL" clId="{20FC058B-70CF-44F4-A5F1-DE33B6E24631}" dt="2026-02-04T03:11:05.988" v="78"/>
          <ac:spMkLst>
            <pc:docMk/>
            <pc:sldMk cId="3015018020" sldId="405"/>
            <ac:spMk id="89" creationId="{6FE5F9C3-0528-47F3-8070-E8D93F71DA07}"/>
          </ac:spMkLst>
        </pc:spChg>
        <pc:grpChg chg="add">
          <ac:chgData name="Suryo Adi Putranto" userId="3d1180bd-9356-434d-a2e9-1d83d72199ce" providerId="ADAL" clId="{20FC058B-70CF-44F4-A5F1-DE33B6E24631}" dt="2026-02-04T03:11:05.988" v="78"/>
          <ac:grpSpMkLst>
            <pc:docMk/>
            <pc:sldMk cId="3015018020" sldId="405"/>
            <ac:grpSpMk id="4" creationId="{27135C36-E5B6-44FF-A8CA-CAAB483B4890}"/>
          </ac:grpSpMkLst>
        </pc:grpChg>
        <pc:grpChg chg="add">
          <ac:chgData name="Suryo Adi Putranto" userId="3d1180bd-9356-434d-a2e9-1d83d72199ce" providerId="ADAL" clId="{20FC058B-70CF-44F4-A5F1-DE33B6E24631}" dt="2026-02-04T03:11:05.988" v="78"/>
          <ac:grpSpMkLst>
            <pc:docMk/>
            <pc:sldMk cId="3015018020" sldId="405"/>
            <ac:grpSpMk id="17" creationId="{F153EEFD-C31F-4DB7-A366-1820973C66C7}"/>
          </ac:grpSpMkLst>
        </pc:grpChg>
        <pc:grpChg chg="add">
          <ac:chgData name="Suryo Adi Putranto" userId="3d1180bd-9356-434d-a2e9-1d83d72199ce" providerId="ADAL" clId="{20FC058B-70CF-44F4-A5F1-DE33B6E24631}" dt="2026-02-04T03:11:05.988" v="78"/>
          <ac:grpSpMkLst>
            <pc:docMk/>
            <pc:sldMk cId="3015018020" sldId="405"/>
            <ac:grpSpMk id="39" creationId="{4F0ACE9B-8219-466D-AC3F-1A633062D137}"/>
          </ac:grpSpMkLst>
        </pc:grpChg>
        <pc:grpChg chg="add">
          <ac:chgData name="Suryo Adi Putranto" userId="3d1180bd-9356-434d-a2e9-1d83d72199ce" providerId="ADAL" clId="{20FC058B-70CF-44F4-A5F1-DE33B6E24631}" dt="2026-02-04T03:11:05.988" v="78"/>
          <ac:grpSpMkLst>
            <pc:docMk/>
            <pc:sldMk cId="3015018020" sldId="405"/>
            <ac:grpSpMk id="44" creationId="{71C0BD7E-A2D8-4270-A66F-B8D67F4E2181}"/>
          </ac:grpSpMkLst>
        </pc:grpChg>
        <pc:grpChg chg="add">
          <ac:chgData name="Suryo Adi Putranto" userId="3d1180bd-9356-434d-a2e9-1d83d72199ce" providerId="ADAL" clId="{20FC058B-70CF-44F4-A5F1-DE33B6E24631}" dt="2026-02-04T03:11:05.988" v="78"/>
          <ac:grpSpMkLst>
            <pc:docMk/>
            <pc:sldMk cId="3015018020" sldId="405"/>
            <ac:grpSpMk id="48" creationId="{39B541DD-8B93-47F7-9854-E8342DB08256}"/>
          </ac:grpSpMkLst>
        </pc:grpChg>
        <pc:grpChg chg="add">
          <ac:chgData name="Suryo Adi Putranto" userId="3d1180bd-9356-434d-a2e9-1d83d72199ce" providerId="ADAL" clId="{20FC058B-70CF-44F4-A5F1-DE33B6E24631}" dt="2026-02-04T03:11:05.988" v="78"/>
          <ac:grpSpMkLst>
            <pc:docMk/>
            <pc:sldMk cId="3015018020" sldId="405"/>
            <ac:grpSpMk id="54" creationId="{6D1BAE86-5493-4F92-9313-7DFDFE1DEDE2}"/>
          </ac:grpSpMkLst>
        </pc:grpChg>
        <pc:grpChg chg="add">
          <ac:chgData name="Suryo Adi Putranto" userId="3d1180bd-9356-434d-a2e9-1d83d72199ce" providerId="ADAL" clId="{20FC058B-70CF-44F4-A5F1-DE33B6E24631}" dt="2026-02-04T03:11:05.988" v="78"/>
          <ac:grpSpMkLst>
            <pc:docMk/>
            <pc:sldMk cId="3015018020" sldId="405"/>
            <ac:grpSpMk id="59" creationId="{DB1C1E67-5820-44B9-BAED-6A2A5CF0AB69}"/>
          </ac:grpSpMkLst>
        </pc:grpChg>
        <pc:grpChg chg="add">
          <ac:chgData name="Suryo Adi Putranto" userId="3d1180bd-9356-434d-a2e9-1d83d72199ce" providerId="ADAL" clId="{20FC058B-70CF-44F4-A5F1-DE33B6E24631}" dt="2026-02-04T03:11:05.988" v="78"/>
          <ac:grpSpMkLst>
            <pc:docMk/>
            <pc:sldMk cId="3015018020" sldId="405"/>
            <ac:grpSpMk id="68" creationId="{47D5CE33-3A32-4CC6-A665-ACF21039EFEF}"/>
          </ac:grpSpMkLst>
        </pc:grpChg>
        <pc:grpChg chg="add">
          <ac:chgData name="Suryo Adi Putranto" userId="3d1180bd-9356-434d-a2e9-1d83d72199ce" providerId="ADAL" clId="{20FC058B-70CF-44F4-A5F1-DE33B6E24631}" dt="2026-02-04T03:11:05.988" v="78"/>
          <ac:grpSpMkLst>
            <pc:docMk/>
            <pc:sldMk cId="3015018020" sldId="405"/>
            <ac:grpSpMk id="76" creationId="{2C738E91-20B2-4ED0-A5FB-CC0FB03B1340}"/>
          </ac:grpSpMkLst>
        </pc:grpChg>
        <pc:picChg chg="add">
          <ac:chgData name="Suryo Adi Putranto" userId="3d1180bd-9356-434d-a2e9-1d83d72199ce" providerId="ADAL" clId="{20FC058B-70CF-44F4-A5F1-DE33B6E24631}" dt="2026-02-04T03:11:05.988" v="78"/>
          <ac:picMkLst>
            <pc:docMk/>
            <pc:sldMk cId="3015018020" sldId="405"/>
            <ac:picMk id="15" creationId="{624EBB54-0B60-4C83-95EC-6EA6A2519C50}"/>
          </ac:picMkLst>
        </pc:picChg>
        <pc:picChg chg="add">
          <ac:chgData name="Suryo Adi Putranto" userId="3d1180bd-9356-434d-a2e9-1d83d72199ce" providerId="ADAL" clId="{20FC058B-70CF-44F4-A5F1-DE33B6E24631}" dt="2026-02-04T03:11:05.988" v="78"/>
          <ac:picMkLst>
            <pc:docMk/>
            <pc:sldMk cId="3015018020" sldId="405"/>
            <ac:picMk id="16" creationId="{19859383-A059-4AD4-9855-CAEB90264EC6}"/>
          </ac:picMkLst>
        </pc:picChg>
        <pc:picChg chg="add">
          <ac:chgData name="Suryo Adi Putranto" userId="3d1180bd-9356-434d-a2e9-1d83d72199ce" providerId="ADAL" clId="{20FC058B-70CF-44F4-A5F1-DE33B6E24631}" dt="2026-02-04T03:11:05.988" v="78"/>
          <ac:picMkLst>
            <pc:docMk/>
            <pc:sldMk cId="3015018020" sldId="405"/>
            <ac:picMk id="23" creationId="{F0504567-B1B6-4F0F-ABF6-5C0F29BF7E03}"/>
          </ac:picMkLst>
        </pc:picChg>
        <pc:picChg chg="add">
          <ac:chgData name="Suryo Adi Putranto" userId="3d1180bd-9356-434d-a2e9-1d83d72199ce" providerId="ADAL" clId="{20FC058B-70CF-44F4-A5F1-DE33B6E24631}" dt="2026-02-04T03:11:05.988" v="78"/>
          <ac:picMkLst>
            <pc:docMk/>
            <pc:sldMk cId="3015018020" sldId="405"/>
            <ac:picMk id="24" creationId="{130BFBAF-E337-4E2E-A468-0C416B4A396D}"/>
          </ac:picMkLst>
        </pc:picChg>
        <pc:picChg chg="add">
          <ac:chgData name="Suryo Adi Putranto" userId="3d1180bd-9356-434d-a2e9-1d83d72199ce" providerId="ADAL" clId="{20FC058B-70CF-44F4-A5F1-DE33B6E24631}" dt="2026-02-04T03:11:05.988" v="78"/>
          <ac:picMkLst>
            <pc:docMk/>
            <pc:sldMk cId="3015018020" sldId="405"/>
            <ac:picMk id="29" creationId="{A21D43A4-E40A-4F21-B799-1CFAC26AC9D3}"/>
          </ac:picMkLst>
        </pc:picChg>
        <pc:picChg chg="add">
          <ac:chgData name="Suryo Adi Putranto" userId="3d1180bd-9356-434d-a2e9-1d83d72199ce" providerId="ADAL" clId="{20FC058B-70CF-44F4-A5F1-DE33B6E24631}" dt="2026-02-04T03:11:05.988" v="78"/>
          <ac:picMkLst>
            <pc:docMk/>
            <pc:sldMk cId="3015018020" sldId="405"/>
            <ac:picMk id="30" creationId="{352B25B8-27A7-473F-AA2E-83B901CFF888}"/>
          </ac:picMkLst>
        </pc:picChg>
        <pc:cxnChg chg="add">
          <ac:chgData name="Suryo Adi Putranto" userId="3d1180bd-9356-434d-a2e9-1d83d72199ce" providerId="ADAL" clId="{20FC058B-70CF-44F4-A5F1-DE33B6E24631}" dt="2026-02-04T03:11:05.988" v="78"/>
          <ac:cxnSpMkLst>
            <pc:docMk/>
            <pc:sldMk cId="3015018020" sldId="405"/>
            <ac:cxnSpMk id="47" creationId="{10D3AB63-5482-4763-ABC0-0B3E0A978FF0}"/>
          </ac:cxnSpMkLst>
        </pc:cxnChg>
        <pc:cxnChg chg="add">
          <ac:chgData name="Suryo Adi Putranto" userId="3d1180bd-9356-434d-a2e9-1d83d72199ce" providerId="ADAL" clId="{20FC058B-70CF-44F4-A5F1-DE33B6E24631}" dt="2026-02-04T03:11:05.988" v="78"/>
          <ac:cxnSpMkLst>
            <pc:docMk/>
            <pc:sldMk cId="3015018020" sldId="405"/>
            <ac:cxnSpMk id="52" creationId="{83A03479-7285-4F47-8407-52EC721663A3}"/>
          </ac:cxnSpMkLst>
        </pc:cxnChg>
        <pc:cxnChg chg="add">
          <ac:chgData name="Suryo Adi Putranto" userId="3d1180bd-9356-434d-a2e9-1d83d72199ce" providerId="ADAL" clId="{20FC058B-70CF-44F4-A5F1-DE33B6E24631}" dt="2026-02-04T03:11:05.988" v="78"/>
          <ac:cxnSpMkLst>
            <pc:docMk/>
            <pc:sldMk cId="3015018020" sldId="405"/>
            <ac:cxnSpMk id="53" creationId="{DA4DF8A9-357B-42FF-A4C2-FB618A52842D}"/>
          </ac:cxnSpMkLst>
        </pc:cxnChg>
        <pc:cxnChg chg="add">
          <ac:chgData name="Suryo Adi Putranto" userId="3d1180bd-9356-434d-a2e9-1d83d72199ce" providerId="ADAL" clId="{20FC058B-70CF-44F4-A5F1-DE33B6E24631}" dt="2026-02-04T03:11:05.988" v="78"/>
          <ac:cxnSpMkLst>
            <pc:docMk/>
            <pc:sldMk cId="3015018020" sldId="405"/>
            <ac:cxnSpMk id="84" creationId="{961E098A-726E-4721-B111-380957B74B90}"/>
          </ac:cxnSpMkLst>
        </pc:cxnChg>
        <pc:cxnChg chg="add">
          <ac:chgData name="Suryo Adi Putranto" userId="3d1180bd-9356-434d-a2e9-1d83d72199ce" providerId="ADAL" clId="{20FC058B-70CF-44F4-A5F1-DE33B6E24631}" dt="2026-02-04T03:11:05.988" v="78"/>
          <ac:cxnSpMkLst>
            <pc:docMk/>
            <pc:sldMk cId="3015018020" sldId="405"/>
            <ac:cxnSpMk id="85" creationId="{D1924795-3250-4DE9-B778-D19670DCCE4D}"/>
          </ac:cxnSpMkLst>
        </pc:cxnChg>
        <pc:cxnChg chg="add">
          <ac:chgData name="Suryo Adi Putranto" userId="3d1180bd-9356-434d-a2e9-1d83d72199ce" providerId="ADAL" clId="{20FC058B-70CF-44F4-A5F1-DE33B6E24631}" dt="2026-02-04T03:11:05.988" v="78"/>
          <ac:cxnSpMkLst>
            <pc:docMk/>
            <pc:sldMk cId="3015018020" sldId="405"/>
            <ac:cxnSpMk id="88" creationId="{BC25FC1F-8B0F-4733-B191-C98082201F18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5C9B79-F537-4DB9-9816-EA5EE838A0C9}" type="doc">
      <dgm:prSet loTypeId="urn:microsoft.com/office/officeart/2005/8/layout/process2" loCatId="process" qsTypeId="urn:microsoft.com/office/officeart/2005/8/quickstyle/simple1" qsCatId="simple" csTypeId="urn:microsoft.com/office/officeart/2005/8/colors/accent2_3" csCatId="accent2" phldr="1"/>
      <dgm:spPr/>
    </dgm:pt>
    <dgm:pt modelId="{5BD1A00B-D151-4802-9471-042E1CE24466}">
      <dgm:prSet phldrT="[Text]"/>
      <dgm:spPr/>
      <dgm:t>
        <a:bodyPr/>
        <a:lstStyle/>
        <a:p>
          <a:r>
            <a:rPr lang="en-US" b="1" dirty="0" err="1">
              <a:solidFill>
                <a:schemeClr val="tx1"/>
              </a:solidFill>
            </a:rPr>
            <a:t>Evaluasi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hasil</a:t>
          </a:r>
          <a:r>
            <a:rPr lang="en-US" b="1" dirty="0">
              <a:solidFill>
                <a:schemeClr val="tx1"/>
              </a:solidFill>
            </a:rPr>
            <a:t> uji </a:t>
          </a:r>
          <a:r>
            <a:rPr lang="en-US" b="1" dirty="0" err="1">
              <a:solidFill>
                <a:schemeClr val="tx1"/>
              </a:solidFill>
            </a:rPr>
            <a:t>coba</a:t>
          </a:r>
          <a:r>
            <a:rPr lang="en-US" b="1" dirty="0">
              <a:solidFill>
                <a:schemeClr val="tx1"/>
              </a:solidFill>
            </a:rPr>
            <a:t> &amp; data gathering</a:t>
          </a:r>
        </a:p>
      </dgm:t>
    </dgm:pt>
    <dgm:pt modelId="{0CC589EE-EB9E-4011-A5D1-7B30A5DD8E42}" type="parTrans" cxnId="{4A654FF5-A208-4334-B9DA-E13E91319170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0F4A3681-810F-43B3-8AC3-10FCA8069095}" type="sibTrans" cxnId="{4A654FF5-A208-4334-B9DA-E13E91319170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C5C765FB-6642-4579-B3B2-DE2DB7033A35}">
      <dgm:prSet phldrT="[Text]"/>
      <dgm:spPr/>
      <dgm:t>
        <a:bodyPr/>
        <a:lstStyle/>
        <a:p>
          <a:r>
            <a:rPr lang="en-US" b="1" dirty="0" err="1">
              <a:solidFill>
                <a:schemeClr val="tx1"/>
              </a:solidFill>
            </a:rPr>
            <a:t>Pelaksanaan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pengujian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laboratorium</a:t>
          </a:r>
          <a:endParaRPr lang="en-US" b="1" dirty="0">
            <a:solidFill>
              <a:schemeClr val="tx1"/>
            </a:solidFill>
          </a:endParaRPr>
        </a:p>
      </dgm:t>
    </dgm:pt>
    <dgm:pt modelId="{DA252A3C-4089-4D18-9FA8-9C6CF2DC25E1}" type="parTrans" cxnId="{A2A292CE-9A06-4299-86E2-2A4C5492FC3C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8D4AA4EC-D345-43F5-96FA-331A758B1E61}" type="sibTrans" cxnId="{A2A292CE-9A06-4299-86E2-2A4C5492FC3C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41EF21D4-7DB8-4D5F-B0DD-735A2312B445}">
      <dgm:prSet phldrT="[Text]"/>
      <dgm:spPr/>
      <dgm:t>
        <a:bodyPr/>
        <a:lstStyle/>
        <a:p>
          <a:r>
            <a:rPr lang="en-US" b="1" dirty="0" err="1">
              <a:solidFill>
                <a:schemeClr val="tx1"/>
              </a:solidFill>
            </a:rPr>
            <a:t>Evaluasi</a:t>
          </a:r>
          <a:endParaRPr lang="en-US" b="1" dirty="0">
            <a:solidFill>
              <a:schemeClr val="tx1"/>
            </a:solidFill>
          </a:endParaRPr>
        </a:p>
      </dgm:t>
    </dgm:pt>
    <dgm:pt modelId="{98998B24-FCA7-40FA-A16D-DEB85E39CC38}" type="parTrans" cxnId="{13080637-77A6-416C-BF9A-9E42B95CABAE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08005510-BD54-4896-9D17-2C4D7A12BB99}" type="sibTrans" cxnId="{13080637-77A6-416C-BF9A-9E42B95CABAE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39A81674-A897-41C8-970A-2357BBAA6259}" type="pres">
      <dgm:prSet presAssocID="{345C9B79-F537-4DB9-9816-EA5EE838A0C9}" presName="linearFlow" presStyleCnt="0">
        <dgm:presLayoutVars>
          <dgm:resizeHandles val="exact"/>
        </dgm:presLayoutVars>
      </dgm:prSet>
      <dgm:spPr/>
    </dgm:pt>
    <dgm:pt modelId="{A6136061-426E-4A77-BC8F-63B41AF76CE3}" type="pres">
      <dgm:prSet presAssocID="{5BD1A00B-D151-4802-9471-042E1CE24466}" presName="node" presStyleLbl="node1" presStyleIdx="0" presStyleCnt="3">
        <dgm:presLayoutVars>
          <dgm:bulletEnabled val="1"/>
        </dgm:presLayoutVars>
      </dgm:prSet>
      <dgm:spPr/>
    </dgm:pt>
    <dgm:pt modelId="{A49F6D29-7321-49A4-8AD1-F415C8CF0D4E}" type="pres">
      <dgm:prSet presAssocID="{0F4A3681-810F-43B3-8AC3-10FCA8069095}" presName="sibTrans" presStyleLbl="sibTrans2D1" presStyleIdx="0" presStyleCnt="2"/>
      <dgm:spPr/>
    </dgm:pt>
    <dgm:pt modelId="{7644D99B-B40E-4AE1-9D61-C33F7D3F2B61}" type="pres">
      <dgm:prSet presAssocID="{0F4A3681-810F-43B3-8AC3-10FCA8069095}" presName="connectorText" presStyleLbl="sibTrans2D1" presStyleIdx="0" presStyleCnt="2"/>
      <dgm:spPr/>
    </dgm:pt>
    <dgm:pt modelId="{55C43F2A-A793-4B7A-853A-C9DC960D3DF0}" type="pres">
      <dgm:prSet presAssocID="{C5C765FB-6642-4579-B3B2-DE2DB7033A35}" presName="node" presStyleLbl="node1" presStyleIdx="1" presStyleCnt="3">
        <dgm:presLayoutVars>
          <dgm:bulletEnabled val="1"/>
        </dgm:presLayoutVars>
      </dgm:prSet>
      <dgm:spPr/>
    </dgm:pt>
    <dgm:pt modelId="{47A5A7BE-801D-40A8-8851-57E496BCE0B8}" type="pres">
      <dgm:prSet presAssocID="{8D4AA4EC-D345-43F5-96FA-331A758B1E61}" presName="sibTrans" presStyleLbl="sibTrans2D1" presStyleIdx="1" presStyleCnt="2"/>
      <dgm:spPr/>
    </dgm:pt>
    <dgm:pt modelId="{C4702CCB-D766-4A98-B68C-C6B0AF129009}" type="pres">
      <dgm:prSet presAssocID="{8D4AA4EC-D345-43F5-96FA-331A758B1E61}" presName="connectorText" presStyleLbl="sibTrans2D1" presStyleIdx="1" presStyleCnt="2"/>
      <dgm:spPr/>
    </dgm:pt>
    <dgm:pt modelId="{B93EB117-274C-4D47-8C17-7C0C5FCFA606}" type="pres">
      <dgm:prSet presAssocID="{41EF21D4-7DB8-4D5F-B0DD-735A2312B445}" presName="node" presStyleLbl="node1" presStyleIdx="2" presStyleCnt="3">
        <dgm:presLayoutVars>
          <dgm:bulletEnabled val="1"/>
        </dgm:presLayoutVars>
      </dgm:prSet>
      <dgm:spPr/>
    </dgm:pt>
  </dgm:ptLst>
  <dgm:cxnLst>
    <dgm:cxn modelId="{C1A5990D-F134-466D-8E1A-D83C81AC950F}" type="presOf" srcId="{C5C765FB-6642-4579-B3B2-DE2DB7033A35}" destId="{55C43F2A-A793-4B7A-853A-C9DC960D3DF0}" srcOrd="0" destOrd="0" presId="urn:microsoft.com/office/officeart/2005/8/layout/process2"/>
    <dgm:cxn modelId="{13080637-77A6-416C-BF9A-9E42B95CABAE}" srcId="{345C9B79-F537-4DB9-9816-EA5EE838A0C9}" destId="{41EF21D4-7DB8-4D5F-B0DD-735A2312B445}" srcOrd="2" destOrd="0" parTransId="{98998B24-FCA7-40FA-A16D-DEB85E39CC38}" sibTransId="{08005510-BD54-4896-9D17-2C4D7A12BB99}"/>
    <dgm:cxn modelId="{2DCE1940-EB32-40DE-87B9-2138E68997C6}" type="presOf" srcId="{5BD1A00B-D151-4802-9471-042E1CE24466}" destId="{A6136061-426E-4A77-BC8F-63B41AF76CE3}" srcOrd="0" destOrd="0" presId="urn:microsoft.com/office/officeart/2005/8/layout/process2"/>
    <dgm:cxn modelId="{D6C1978B-5ABE-4020-AACC-4638D1A93AFA}" type="presOf" srcId="{8D4AA4EC-D345-43F5-96FA-331A758B1E61}" destId="{47A5A7BE-801D-40A8-8851-57E496BCE0B8}" srcOrd="0" destOrd="0" presId="urn:microsoft.com/office/officeart/2005/8/layout/process2"/>
    <dgm:cxn modelId="{91A9F49B-CBAD-4451-9BA6-3481EAC35DDC}" type="presOf" srcId="{0F4A3681-810F-43B3-8AC3-10FCA8069095}" destId="{7644D99B-B40E-4AE1-9D61-C33F7D3F2B61}" srcOrd="1" destOrd="0" presId="urn:microsoft.com/office/officeart/2005/8/layout/process2"/>
    <dgm:cxn modelId="{F682D5B3-3A19-419C-9A6F-CBF8C9538AEB}" type="presOf" srcId="{0F4A3681-810F-43B3-8AC3-10FCA8069095}" destId="{A49F6D29-7321-49A4-8AD1-F415C8CF0D4E}" srcOrd="0" destOrd="0" presId="urn:microsoft.com/office/officeart/2005/8/layout/process2"/>
    <dgm:cxn modelId="{CEE801B4-7FB5-4CD3-95EA-FD43B112F868}" type="presOf" srcId="{8D4AA4EC-D345-43F5-96FA-331A758B1E61}" destId="{C4702CCB-D766-4A98-B68C-C6B0AF129009}" srcOrd="1" destOrd="0" presId="urn:microsoft.com/office/officeart/2005/8/layout/process2"/>
    <dgm:cxn modelId="{A2A292CE-9A06-4299-86E2-2A4C5492FC3C}" srcId="{345C9B79-F537-4DB9-9816-EA5EE838A0C9}" destId="{C5C765FB-6642-4579-B3B2-DE2DB7033A35}" srcOrd="1" destOrd="0" parTransId="{DA252A3C-4089-4D18-9FA8-9C6CF2DC25E1}" sibTransId="{8D4AA4EC-D345-43F5-96FA-331A758B1E61}"/>
    <dgm:cxn modelId="{608E9BD1-DBBE-4DCB-AB44-691F6C1FEC0E}" type="presOf" srcId="{345C9B79-F537-4DB9-9816-EA5EE838A0C9}" destId="{39A81674-A897-41C8-970A-2357BBAA6259}" srcOrd="0" destOrd="0" presId="urn:microsoft.com/office/officeart/2005/8/layout/process2"/>
    <dgm:cxn modelId="{CF21D3DB-9AEB-4EDA-8371-28B0DAD967A8}" type="presOf" srcId="{41EF21D4-7DB8-4D5F-B0DD-735A2312B445}" destId="{B93EB117-274C-4D47-8C17-7C0C5FCFA606}" srcOrd="0" destOrd="0" presId="urn:microsoft.com/office/officeart/2005/8/layout/process2"/>
    <dgm:cxn modelId="{4A654FF5-A208-4334-B9DA-E13E91319170}" srcId="{345C9B79-F537-4DB9-9816-EA5EE838A0C9}" destId="{5BD1A00B-D151-4802-9471-042E1CE24466}" srcOrd="0" destOrd="0" parTransId="{0CC589EE-EB9E-4011-A5D1-7B30A5DD8E42}" sibTransId="{0F4A3681-810F-43B3-8AC3-10FCA8069095}"/>
    <dgm:cxn modelId="{A8021A32-61B0-416E-A9AF-82B8C97FB9DC}" type="presParOf" srcId="{39A81674-A897-41C8-970A-2357BBAA6259}" destId="{A6136061-426E-4A77-BC8F-63B41AF76CE3}" srcOrd="0" destOrd="0" presId="urn:microsoft.com/office/officeart/2005/8/layout/process2"/>
    <dgm:cxn modelId="{44B2780D-870E-4CAF-A4D9-6F52818D6F12}" type="presParOf" srcId="{39A81674-A897-41C8-970A-2357BBAA6259}" destId="{A49F6D29-7321-49A4-8AD1-F415C8CF0D4E}" srcOrd="1" destOrd="0" presId="urn:microsoft.com/office/officeart/2005/8/layout/process2"/>
    <dgm:cxn modelId="{EBAFDFAE-4D94-4BB7-B32B-021EBBDF780E}" type="presParOf" srcId="{A49F6D29-7321-49A4-8AD1-F415C8CF0D4E}" destId="{7644D99B-B40E-4AE1-9D61-C33F7D3F2B61}" srcOrd="0" destOrd="0" presId="urn:microsoft.com/office/officeart/2005/8/layout/process2"/>
    <dgm:cxn modelId="{086F6F57-1CF0-4FA9-AE37-A6FBFA8DF4C3}" type="presParOf" srcId="{39A81674-A897-41C8-970A-2357BBAA6259}" destId="{55C43F2A-A793-4B7A-853A-C9DC960D3DF0}" srcOrd="2" destOrd="0" presId="urn:microsoft.com/office/officeart/2005/8/layout/process2"/>
    <dgm:cxn modelId="{0BF01AE0-1BFF-4013-8753-C638116962A4}" type="presParOf" srcId="{39A81674-A897-41C8-970A-2357BBAA6259}" destId="{47A5A7BE-801D-40A8-8851-57E496BCE0B8}" srcOrd="3" destOrd="0" presId="urn:microsoft.com/office/officeart/2005/8/layout/process2"/>
    <dgm:cxn modelId="{6D4CB68A-0C55-43C7-B16F-04D7FBA9B160}" type="presParOf" srcId="{47A5A7BE-801D-40A8-8851-57E496BCE0B8}" destId="{C4702CCB-D766-4A98-B68C-C6B0AF129009}" srcOrd="0" destOrd="0" presId="urn:microsoft.com/office/officeart/2005/8/layout/process2"/>
    <dgm:cxn modelId="{8FCD4FA0-D6DC-4DA7-A505-A4570B621648}" type="presParOf" srcId="{39A81674-A897-41C8-970A-2357BBAA6259}" destId="{B93EB117-274C-4D47-8C17-7C0C5FCFA606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136061-426E-4A77-BC8F-63B41AF76CE3}">
      <dsp:nvSpPr>
        <dsp:cNvPr id="0" name=""/>
        <dsp:cNvSpPr/>
      </dsp:nvSpPr>
      <dsp:spPr>
        <a:xfrm>
          <a:off x="666437" y="0"/>
          <a:ext cx="1999622" cy="1110901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>
              <a:solidFill>
                <a:schemeClr val="tx1"/>
              </a:solidFill>
            </a:rPr>
            <a:t>Evaluasi</a:t>
          </a:r>
          <a:r>
            <a:rPr lang="en-US" sz="2100" b="1" kern="1200" dirty="0">
              <a:solidFill>
                <a:schemeClr val="tx1"/>
              </a:solidFill>
            </a:rPr>
            <a:t> </a:t>
          </a:r>
          <a:r>
            <a:rPr lang="en-US" sz="2100" b="1" kern="1200" dirty="0" err="1">
              <a:solidFill>
                <a:schemeClr val="tx1"/>
              </a:solidFill>
            </a:rPr>
            <a:t>hasil</a:t>
          </a:r>
          <a:r>
            <a:rPr lang="en-US" sz="2100" b="1" kern="1200" dirty="0">
              <a:solidFill>
                <a:schemeClr val="tx1"/>
              </a:solidFill>
            </a:rPr>
            <a:t> uji </a:t>
          </a:r>
          <a:r>
            <a:rPr lang="en-US" sz="2100" b="1" kern="1200" dirty="0" err="1">
              <a:solidFill>
                <a:schemeClr val="tx1"/>
              </a:solidFill>
            </a:rPr>
            <a:t>coba</a:t>
          </a:r>
          <a:r>
            <a:rPr lang="en-US" sz="2100" b="1" kern="1200" dirty="0">
              <a:solidFill>
                <a:schemeClr val="tx1"/>
              </a:solidFill>
            </a:rPr>
            <a:t> &amp; data gathering</a:t>
          </a:r>
        </a:p>
      </dsp:txBody>
      <dsp:txXfrm>
        <a:off x="698974" y="32537"/>
        <a:ext cx="1934548" cy="1045827"/>
      </dsp:txXfrm>
    </dsp:sp>
    <dsp:sp modelId="{A49F6D29-7321-49A4-8AD1-F415C8CF0D4E}">
      <dsp:nvSpPr>
        <dsp:cNvPr id="0" name=""/>
        <dsp:cNvSpPr/>
      </dsp:nvSpPr>
      <dsp:spPr>
        <a:xfrm rot="5400000">
          <a:off x="1457955" y="1138673"/>
          <a:ext cx="416587" cy="499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1" kern="1200">
            <a:solidFill>
              <a:schemeClr val="tx1"/>
            </a:solidFill>
          </a:endParaRPr>
        </a:p>
      </dsp:txBody>
      <dsp:txXfrm rot="-5400000">
        <a:off x="1516277" y="1180332"/>
        <a:ext cx="299943" cy="291611"/>
      </dsp:txXfrm>
    </dsp:sp>
    <dsp:sp modelId="{55C43F2A-A793-4B7A-853A-C9DC960D3DF0}">
      <dsp:nvSpPr>
        <dsp:cNvPr id="0" name=""/>
        <dsp:cNvSpPr/>
      </dsp:nvSpPr>
      <dsp:spPr>
        <a:xfrm>
          <a:off x="666437" y="1666351"/>
          <a:ext cx="1999622" cy="1110901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-240708"/>
            <a:satOff val="5083"/>
            <a:lumOff val="135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>
              <a:solidFill>
                <a:schemeClr val="tx1"/>
              </a:solidFill>
            </a:rPr>
            <a:t>Pelaksanaan</a:t>
          </a:r>
          <a:r>
            <a:rPr lang="en-US" sz="2100" b="1" kern="1200" dirty="0">
              <a:solidFill>
                <a:schemeClr val="tx1"/>
              </a:solidFill>
            </a:rPr>
            <a:t> </a:t>
          </a:r>
          <a:r>
            <a:rPr lang="en-US" sz="2100" b="1" kern="1200" dirty="0" err="1">
              <a:solidFill>
                <a:schemeClr val="tx1"/>
              </a:solidFill>
            </a:rPr>
            <a:t>pengujian</a:t>
          </a:r>
          <a:r>
            <a:rPr lang="en-US" sz="2100" b="1" kern="1200" dirty="0">
              <a:solidFill>
                <a:schemeClr val="tx1"/>
              </a:solidFill>
            </a:rPr>
            <a:t> </a:t>
          </a:r>
          <a:r>
            <a:rPr lang="en-US" sz="2100" b="1" kern="1200" dirty="0" err="1">
              <a:solidFill>
                <a:schemeClr val="tx1"/>
              </a:solidFill>
            </a:rPr>
            <a:t>laboratorium</a:t>
          </a:r>
          <a:endParaRPr lang="en-US" sz="2100" b="1" kern="1200" dirty="0">
            <a:solidFill>
              <a:schemeClr val="tx1"/>
            </a:solidFill>
          </a:endParaRPr>
        </a:p>
      </dsp:txBody>
      <dsp:txXfrm>
        <a:off x="698974" y="1698888"/>
        <a:ext cx="1934548" cy="1045827"/>
      </dsp:txXfrm>
    </dsp:sp>
    <dsp:sp modelId="{47A5A7BE-801D-40A8-8851-57E496BCE0B8}">
      <dsp:nvSpPr>
        <dsp:cNvPr id="0" name=""/>
        <dsp:cNvSpPr/>
      </dsp:nvSpPr>
      <dsp:spPr>
        <a:xfrm rot="5400000">
          <a:off x="1457955" y="2805025"/>
          <a:ext cx="416587" cy="499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-481452"/>
            <a:satOff val="2416"/>
            <a:lumOff val="242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1" kern="1200">
            <a:solidFill>
              <a:schemeClr val="tx1"/>
            </a:solidFill>
          </a:endParaRPr>
        </a:p>
      </dsp:txBody>
      <dsp:txXfrm rot="-5400000">
        <a:off x="1516277" y="2846684"/>
        <a:ext cx="299943" cy="291611"/>
      </dsp:txXfrm>
    </dsp:sp>
    <dsp:sp modelId="{B93EB117-274C-4D47-8C17-7C0C5FCFA606}">
      <dsp:nvSpPr>
        <dsp:cNvPr id="0" name=""/>
        <dsp:cNvSpPr/>
      </dsp:nvSpPr>
      <dsp:spPr>
        <a:xfrm>
          <a:off x="666437" y="3332703"/>
          <a:ext cx="1999622" cy="1110901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-481415"/>
            <a:satOff val="10166"/>
            <a:lumOff val="270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>
              <a:solidFill>
                <a:schemeClr val="tx1"/>
              </a:solidFill>
            </a:rPr>
            <a:t>Evaluasi</a:t>
          </a:r>
          <a:endParaRPr lang="en-US" sz="2100" b="1" kern="1200" dirty="0">
            <a:solidFill>
              <a:schemeClr val="tx1"/>
            </a:solidFill>
          </a:endParaRPr>
        </a:p>
      </dsp:txBody>
      <dsp:txXfrm>
        <a:off x="698974" y="3365240"/>
        <a:ext cx="1934548" cy="1045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0E0A-B747-4322-B110-774A1D242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7ADC6-FFE4-43CF-83F7-446BB631B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63A21-4CF3-4680-BBF5-6429BCDF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23782-3B8C-44EC-B5D3-F548DACF4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161A7-6A1B-4AEA-BFAF-C7675626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7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99AB-3B51-473D-85B5-94924685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55EB1-84FB-4F07-A3BE-3616E3EAD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DDE04-74B0-4ACD-A8BD-A793AD2B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ACED4-547D-4D35-8D9E-5B0EB0C3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AD29C-86BD-4070-9395-218A82FD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8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1994-3370-4FD5-85D0-C77D0EA9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6B864-D1A7-43BC-AACA-19BD9D14F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8E34C-C53A-4091-AD59-758B13EC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C0F0F-8544-4F71-A627-746129453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D50FA-FCA0-4A47-8825-2188E5D3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4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BE57-9355-470E-A5A4-B1ADD11B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C01C4-6028-4F16-916B-6D351D1A0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ADA5F-68D9-43BA-9D80-0EF79C110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72844-3D65-4206-8689-D7357D267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4147B-D244-4A89-870F-47845DD8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85239-3145-4DB7-A2DB-E940273F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35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BD4F-F6F5-43A0-A0B5-685AA9C8E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13F1A-0222-416C-9EE6-F682B7649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CFAD0-A8BB-48A2-A5D6-087F580B5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7CDBA-D021-4691-859E-C8AFBC875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E150E1-3598-4515-A66C-69ACDD529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97823-52FB-4E7D-9143-05EB47E5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703A9E-C57C-4AB2-91D1-B68D7BA4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BFC360-C91A-43B5-A755-20FDA4F5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30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C6C7-B949-41CA-BC67-86D2C9173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B787B-9647-4992-86EF-AD7C46C0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00BC5-BD05-4B35-81EC-F75D5CBB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3CE80-653C-47EE-A104-1792D10E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8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C1123D-A33A-4161-A9F9-B8798A29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37451-BD49-4813-9E66-C14BC9C02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4BBC4-2AE4-43BA-AA5C-AA387C71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39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ADBF-A8D1-4A60-ACBE-5E1D4276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CD8-89A8-4D8D-B85C-8E12B6734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B28E5-9EF3-4167-B839-1B98519E6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9C47C-0777-47B8-99F6-2FF62BDA7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D73AF-F081-43B4-8201-8AE2ECD2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1409F-AEE4-4D1D-834F-3EDF64C9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7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978A-1D9A-4F82-806D-AABF0B4B3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1890B-03FE-4BEA-891C-327D66CEF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E9F19-DD28-4E5E-A3AA-AFBE84D4D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E45F5-F98A-4061-9D69-4D613E3FA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8DBA5-A410-4CE9-8D97-61C74C2E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9F787-C966-4244-9A4F-CE4186E7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8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DAFA-26DB-4B8C-ACB5-1C6D4D91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7CA90-81E3-458C-9DD5-BCDA640AC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37BF9-8EBB-486F-824C-75907AFD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49DF1-00DF-4583-9C11-8BB187E3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B14E4-1593-454B-82C6-884CB20AB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4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3835E-73D8-454E-8680-BBB4E02AF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2731A-995B-4C1F-B7C0-F3D94B8BD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A3DD3-5577-4E4D-B140-F29935FE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D27FD-9B03-40C2-80E5-A737EDE6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A7EE3-A037-4165-951C-8E162171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06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si"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999050-58BB-495E-BF47-ED6005FC3B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9773" b="86549"/>
          <a:stretch/>
        </p:blipFill>
        <p:spPr>
          <a:xfrm>
            <a:off x="7287490" y="5474"/>
            <a:ext cx="4904509" cy="9227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21949C-444F-4CEA-ACCA-D7CCE75AA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6549"/>
          <a:stretch/>
        </p:blipFill>
        <p:spPr>
          <a:xfrm>
            <a:off x="0" y="5943082"/>
            <a:ext cx="12192000" cy="9227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F7267-5487-49CA-B97A-83BFF013C426}"/>
              </a:ext>
            </a:extLst>
          </p:cNvPr>
          <p:cNvSpPr/>
          <p:nvPr userDrawn="1"/>
        </p:nvSpPr>
        <p:spPr>
          <a:xfrm>
            <a:off x="4421874" y="6273800"/>
            <a:ext cx="3282793" cy="449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40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0E0A-B747-4322-B110-774A1D242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7ADC6-FFE4-43CF-83F7-446BB631B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63A21-4CF3-4680-BBF5-6429BCDF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23782-3B8C-44EC-B5D3-F548DACF4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161A7-6A1B-4AEA-BFAF-C7675626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71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99AB-3B51-473D-85B5-94924685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55EB1-84FB-4F07-A3BE-3616E3EAD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DDE04-74B0-4ACD-A8BD-A793AD2B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ACED4-547D-4D35-8D9E-5B0EB0C37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AD29C-86BD-4070-9395-218A82FD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5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1994-3370-4FD5-85D0-C77D0EA9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6B864-D1A7-43BC-AACA-19BD9D14F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8E34C-C53A-4091-AD59-758B13EC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C0F0F-8544-4F71-A627-746129453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D50FA-FCA0-4A47-8825-2188E5D3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64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BE57-9355-470E-A5A4-B1ADD11B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C01C4-6028-4F16-916B-6D351D1A0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ADA5F-68D9-43BA-9D80-0EF79C110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72844-3D65-4206-8689-D7357D267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4147B-D244-4A89-870F-47845DD83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85239-3145-4DB7-A2DB-E940273F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32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BD4F-F6F5-43A0-A0B5-685AA9C8E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13F1A-0222-416C-9EE6-F682B7649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CFAD0-A8BB-48A2-A5D6-087F580B5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7CDBA-D021-4691-859E-C8AFBC8755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E150E1-3598-4515-A66C-69ACDD529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97823-52FB-4E7D-9143-05EB47E5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703A9E-C57C-4AB2-91D1-B68D7BA4B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BFC360-C91A-43B5-A755-20FDA4F5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03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6C6C7-B949-41CA-BC67-86D2C9173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B787B-9647-4992-86EF-AD7C46C0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00BC5-BD05-4B35-81EC-F75D5CBB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3CE80-653C-47EE-A104-1792D10E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884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C1123D-A33A-4161-A9F9-B8798A29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37451-BD49-4813-9E66-C14BC9C02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4BBC4-2AE4-43BA-AA5C-AA387C71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46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ADBF-A8D1-4A60-ACBE-5E1D4276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1CD8-89A8-4D8D-B85C-8E12B6734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B28E5-9EF3-4167-B839-1B98519E6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9C47C-0777-47B8-99F6-2FF62BDA7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D73AF-F081-43B4-8201-8AE2ECD2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1409F-AEE4-4D1D-834F-3EDF64C9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618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978A-1D9A-4F82-806D-AABF0B4B3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1890B-03FE-4BEA-891C-327D66CEF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E9F19-DD28-4E5E-A3AA-AFBE84D4D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E45F5-F98A-4061-9D69-4D613E3FA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8DBA5-A410-4CE9-8D97-61C74C2E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9F787-C966-4244-9A4F-CE4186E7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743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DAFA-26DB-4B8C-ACB5-1C6D4D91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7CA90-81E3-458C-9DD5-BCDA640AC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37BF9-8EBB-486F-824C-75907AFD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49DF1-00DF-4583-9C11-8BB187E3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B14E4-1593-454B-82C6-884CB20AB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515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3835E-73D8-454E-8680-BBB4E02AF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2731A-995B-4C1F-B7C0-F3D94B8BD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A3DD3-5577-4E4D-B140-F29935FE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D27FD-9B03-40C2-80E5-A737EDE6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A7EE3-A037-4165-951C-8E162171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3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vmlDrawing" Target="../drawings/vmlDrawing2.v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5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7425671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17" imgW="421" imgH="423" progId="TCLayout.ActiveDocument.1">
                  <p:embed/>
                </p:oleObj>
              </mc:Choice>
              <mc:Fallback>
                <p:oleObj name="think-cell Slide" r:id="rId17" imgW="421" imgH="423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4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45C60-ADA9-49A4-9C9B-3EB2488E2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7C035-F9DB-43B8-AE55-CD0B9057F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3AD8A-6ACE-460E-A8B1-23FD5834E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2CDE7-0043-4016-8069-0916D9D22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FF7D3-2622-418C-8D29-99B2ACE19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82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16" imgW="421" imgH="423" progId="TCLayout.ActiveDocument.1">
                  <p:embed/>
                </p:oleObj>
              </mc:Choice>
              <mc:Fallback>
                <p:oleObj name="think-cell Slide" r:id="rId16" imgW="421" imgH="423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4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45C60-ADA9-49A4-9C9B-3EB2488E2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7C035-F9DB-43B8-AE55-CD0B9057F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3AD8A-6ACE-460E-A8B1-23FD5834E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54B3-738C-4337-BCDD-FA90ADA3D17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2CDE7-0043-4016-8069-0916D9D22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FF7D3-2622-418C-8D29-99B2ACE19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03B5E-C007-4FA8-B023-280DCDA1A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18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10" Type="http://schemas.openxmlformats.org/officeDocument/2006/relationships/image" Target="../media/image18.png"/><Relationship Id="rId4" Type="http://schemas.openxmlformats.org/officeDocument/2006/relationships/image" Target="../media/image12.jpe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4.png"/><Relationship Id="rId7" Type="http://schemas.openxmlformats.org/officeDocument/2006/relationships/diagramData" Target="../diagrams/data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microsoft.com/office/2007/relationships/diagramDrawing" Target="../diagrams/drawing1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20.png"/><Relationship Id="rId9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0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5664" r="22757"/>
          <a:stretch/>
        </p:blipFill>
        <p:spPr>
          <a:xfrm>
            <a:off x="0" y="1077859"/>
            <a:ext cx="12192000" cy="518219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" y="1467337"/>
            <a:ext cx="12192000" cy="47927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DE6098-12E5-4952-89B4-A8218C921388}"/>
              </a:ext>
            </a:extLst>
          </p:cNvPr>
          <p:cNvSpPr/>
          <p:nvPr/>
        </p:nvSpPr>
        <p:spPr>
          <a:xfrm>
            <a:off x="0" y="6262048"/>
            <a:ext cx="12192001" cy="595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957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67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16916D-910B-4680-8F5C-9BC9AE7B16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2997"/>
            <a:ext cx="1572544" cy="715003"/>
          </a:xfrm>
          <a:prstGeom prst="rect">
            <a:avLst/>
          </a:prstGeom>
        </p:spPr>
      </p:pic>
      <p:pic>
        <p:nvPicPr>
          <p:cNvPr id="16" name="Graphic 12">
            <a:extLst>
              <a:ext uri="{FF2B5EF4-FFF2-40B4-BE49-F238E27FC236}">
                <a16:creationId xmlns:a16="http://schemas.microsoft.com/office/drawing/2014/main" id="{7CB2DD97-CEE8-474E-89D4-CDB477C548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53365" y="6348730"/>
            <a:ext cx="410076" cy="4029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5A2DAFC-D90F-9B49-BC7E-FAD6333281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68644" y="-421816"/>
            <a:ext cx="3334213" cy="1538868"/>
          </a:xfrm>
          <a:prstGeom prst="rect">
            <a:avLst/>
          </a:prstGeom>
        </p:spPr>
      </p:pic>
      <p:sp>
        <p:nvSpPr>
          <p:cNvPr id="12" name="McK Disclaimer">
            <a:extLst>
              <a:ext uri="{FF2B5EF4-FFF2-40B4-BE49-F238E27FC236}">
                <a16:creationId xmlns:a16="http://schemas.microsoft.com/office/drawing/2014/main" id="{910BBBEF-D8AA-4C91-B237-6B7A27E2797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727574"/>
            <a:ext cx="12192000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/>
        </p:spPr>
        <p:txBody>
          <a:bodyPr wrap="square" lIns="182880" tIns="0" rIns="0" bIns="0" anchor="b">
            <a:spAutoFit/>
          </a:bodyPr>
          <a:lstStyle/>
          <a:p>
            <a:pPr marL="0" marR="0" lvl="0" indent="0" algn="ctr" defTabSz="78351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Lt BT"/>
                <a:ea typeface="+mn-ea"/>
                <a:cs typeface="Arial" panose="020B0604020202020204" pitchFamily="34" charset="0"/>
              </a:rPr>
              <a:t>Studi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Lt BT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Lt BT"/>
                <a:ea typeface="+mn-ea"/>
                <a:cs typeface="Arial" panose="020B0604020202020204" pitchFamily="34" charset="0"/>
              </a:rPr>
              <a:t>Metode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Lt BT"/>
                <a:ea typeface="+mn-ea"/>
                <a:cs typeface="Arial" panose="020B0604020202020204" pitchFamily="34" charset="0"/>
              </a:rPr>
              <a:t> Electric Assisted Oil Recovery (EAOR) 2026</a:t>
            </a:r>
            <a:endParaRPr kumimoji="0" lang="id-ID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Lt BT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McK Disclaimer">
            <a:extLst>
              <a:ext uri="{FF2B5EF4-FFF2-40B4-BE49-F238E27FC236}">
                <a16:creationId xmlns:a16="http://schemas.microsoft.com/office/drawing/2014/main" id="{910BBBEF-D8AA-4C91-B237-6B7A27E2797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0832" y="1761910"/>
            <a:ext cx="497167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78351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Lt BT"/>
                <a:ea typeface="+mn-ea"/>
                <a:cs typeface="Arial" panose="020B0604020202020204" pitchFamily="34" charset="0"/>
              </a:rPr>
              <a:t>Innovation Reservoir &amp; Production</a:t>
            </a:r>
          </a:p>
          <a:p>
            <a:pPr marL="0" marR="0" lvl="0" indent="0" algn="l" defTabSz="783518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Lt BT"/>
                <a:ea typeface="+mn-ea"/>
                <a:cs typeface="Arial" panose="020B0604020202020204" pitchFamily="34" charset="0"/>
              </a:rPr>
              <a:t>Februari 2026</a:t>
            </a:r>
            <a:endParaRPr kumimoji="0" lang="id-ID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Lt BT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8A18F3-CC6E-4518-ACA3-08E332D164D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4" t="40357" r="14027" b="9434"/>
          <a:stretch/>
        </p:blipFill>
        <p:spPr>
          <a:xfrm>
            <a:off x="3946322" y="1835570"/>
            <a:ext cx="8245678" cy="4424488"/>
          </a:xfrm>
          <a:prstGeom prst="round2DiagRect">
            <a:avLst>
              <a:gd name="adj1" fmla="val 44948"/>
              <a:gd name="adj2" fmla="val 0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D37FBA-F391-4209-8FE0-06A6351F1E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38" y="2574234"/>
            <a:ext cx="4690155" cy="3126770"/>
          </a:xfrm>
          <a:prstGeom prst="round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B5CB1CE-7407-4213-8FA4-C73D09D230D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5" t="53280" r="22336" b="19029"/>
          <a:stretch/>
        </p:blipFill>
        <p:spPr>
          <a:xfrm>
            <a:off x="213815" y="3420233"/>
            <a:ext cx="1851415" cy="83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6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7135C36-E5B6-44FF-A8CA-CAAB483B4890}"/>
              </a:ext>
            </a:extLst>
          </p:cNvPr>
          <p:cNvGrpSpPr/>
          <p:nvPr/>
        </p:nvGrpSpPr>
        <p:grpSpPr>
          <a:xfrm>
            <a:off x="1750222" y="3080315"/>
            <a:ext cx="1094844" cy="1227121"/>
            <a:chOff x="1750222" y="2652298"/>
            <a:chExt cx="1094844" cy="122712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B006673-437C-4310-8B75-2DDE339D8876}"/>
                </a:ext>
              </a:extLst>
            </p:cNvPr>
            <p:cNvGrpSpPr/>
            <p:nvPr/>
          </p:nvGrpSpPr>
          <p:grpSpPr>
            <a:xfrm>
              <a:off x="1832453" y="2652298"/>
              <a:ext cx="1012613" cy="886461"/>
              <a:chOff x="1442720" y="3126740"/>
              <a:chExt cx="1012613" cy="88646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9024741-A158-430C-9F12-5E87F82DFA44}"/>
                  </a:ext>
                </a:extLst>
              </p:cNvPr>
              <p:cNvGrpSpPr/>
              <p:nvPr/>
            </p:nvGrpSpPr>
            <p:grpSpPr>
              <a:xfrm>
                <a:off x="1442720" y="3126740"/>
                <a:ext cx="1012613" cy="886461"/>
                <a:chOff x="1442720" y="3126740"/>
                <a:chExt cx="1422400" cy="906781"/>
              </a:xfrm>
            </p:grpSpPr>
            <p:sp>
              <p:nvSpPr>
                <p:cNvPr id="11" name="Cube 10">
                  <a:extLst>
                    <a:ext uri="{FF2B5EF4-FFF2-40B4-BE49-F238E27FC236}">
                      <a16:creationId xmlns:a16="http://schemas.microsoft.com/office/drawing/2014/main" id="{470D9F96-D32B-4231-AA43-157A2AB84359}"/>
                    </a:ext>
                  </a:extLst>
                </p:cNvPr>
                <p:cNvSpPr/>
                <p:nvPr/>
              </p:nvSpPr>
              <p:spPr>
                <a:xfrm>
                  <a:off x="1442720" y="3429001"/>
                  <a:ext cx="1422400" cy="604520"/>
                </a:xfrm>
                <a:prstGeom prst="cube">
                  <a:avLst>
                    <a:gd name="adj" fmla="val 52008"/>
                  </a:avLst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EB5F9F20-6CD8-4791-BBC8-63858D9806BE}"/>
                    </a:ext>
                  </a:extLst>
                </p:cNvPr>
                <p:cNvGrpSpPr/>
                <p:nvPr/>
              </p:nvGrpSpPr>
              <p:grpSpPr>
                <a:xfrm>
                  <a:off x="1442720" y="3126740"/>
                  <a:ext cx="1422400" cy="604520"/>
                  <a:chOff x="2052320" y="2468880"/>
                  <a:chExt cx="1422400" cy="604520"/>
                </a:xfrm>
              </p:grpSpPr>
              <p:sp>
                <p:nvSpPr>
                  <p:cNvPr id="13" name="Cube 12">
                    <a:extLst>
                      <a:ext uri="{FF2B5EF4-FFF2-40B4-BE49-F238E27FC236}">
                        <a16:creationId xmlns:a16="http://schemas.microsoft.com/office/drawing/2014/main" id="{B9680291-99A8-4962-95D1-35B7F28FAB28}"/>
                      </a:ext>
                    </a:extLst>
                  </p:cNvPr>
                  <p:cNvSpPr/>
                  <p:nvPr/>
                </p:nvSpPr>
                <p:spPr>
                  <a:xfrm>
                    <a:off x="2052320" y="2468880"/>
                    <a:ext cx="1422400" cy="604520"/>
                  </a:xfrm>
                  <a:prstGeom prst="cube">
                    <a:avLst>
                      <a:gd name="adj" fmla="val 52008"/>
                    </a:avLst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295F0FF8-8827-4F34-BB32-534A4CD51461}"/>
                      </a:ext>
                    </a:extLst>
                  </p:cNvPr>
                  <p:cNvSpPr/>
                  <p:nvPr/>
                </p:nvSpPr>
                <p:spPr>
                  <a:xfrm>
                    <a:off x="2275839" y="2825896"/>
                    <a:ext cx="487681" cy="19939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8" name="Cylinder 7">
                <a:extLst>
                  <a:ext uri="{FF2B5EF4-FFF2-40B4-BE49-F238E27FC236}">
                    <a16:creationId xmlns:a16="http://schemas.microsoft.com/office/drawing/2014/main" id="{26571F66-8A7D-4CC2-8876-DEEE2384C4A6}"/>
                  </a:ext>
                </a:extLst>
              </p:cNvPr>
              <p:cNvSpPr/>
              <p:nvPr/>
            </p:nvSpPr>
            <p:spPr>
              <a:xfrm>
                <a:off x="1568848" y="3239725"/>
                <a:ext cx="160867" cy="135467"/>
              </a:xfrm>
              <a:prstGeom prst="can">
                <a:avLst>
                  <a:gd name="adj" fmla="val 5000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Cylinder 8">
                <a:extLst>
                  <a:ext uri="{FF2B5EF4-FFF2-40B4-BE49-F238E27FC236}">
                    <a16:creationId xmlns:a16="http://schemas.microsoft.com/office/drawing/2014/main" id="{D90A36E2-E1CE-46CF-8DEC-84B462C37AC9}"/>
                  </a:ext>
                </a:extLst>
              </p:cNvPr>
              <p:cNvSpPr/>
              <p:nvPr/>
            </p:nvSpPr>
            <p:spPr>
              <a:xfrm>
                <a:off x="2012091" y="3271697"/>
                <a:ext cx="149506" cy="103495"/>
              </a:xfrm>
              <a:prstGeom prst="can">
                <a:avLst>
                  <a:gd name="adj" fmla="val 5000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Cylinder 9">
                <a:extLst>
                  <a:ext uri="{FF2B5EF4-FFF2-40B4-BE49-F238E27FC236}">
                    <a16:creationId xmlns:a16="http://schemas.microsoft.com/office/drawing/2014/main" id="{0CF9175F-ED42-45DD-B656-EFA7CB4DB43F}"/>
                  </a:ext>
                </a:extLst>
              </p:cNvPr>
              <p:cNvSpPr/>
              <p:nvPr/>
            </p:nvSpPr>
            <p:spPr>
              <a:xfrm>
                <a:off x="2131965" y="3155251"/>
                <a:ext cx="149506" cy="103495"/>
              </a:xfrm>
              <a:prstGeom prst="can">
                <a:avLst>
                  <a:gd name="adj" fmla="val 5000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8FF3BC-CE5C-481D-9AF9-364B54207C44}"/>
                </a:ext>
              </a:extLst>
            </p:cNvPr>
            <p:cNvSpPr txBox="1"/>
            <p:nvPr/>
          </p:nvSpPr>
          <p:spPr>
            <a:xfrm>
              <a:off x="1750222" y="3571642"/>
              <a:ext cx="10573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E-EOR Tools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24EBB54-0B60-4C83-95EC-6EA6A2519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469495" y="3301366"/>
            <a:ext cx="414758" cy="9340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859383-A059-4AD4-9855-CAEB90264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28" y="3331453"/>
            <a:ext cx="414758" cy="93403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153EEFD-C31F-4DB7-A366-1820973C66C7}"/>
              </a:ext>
            </a:extLst>
          </p:cNvPr>
          <p:cNvGrpSpPr/>
          <p:nvPr/>
        </p:nvGrpSpPr>
        <p:grpSpPr>
          <a:xfrm>
            <a:off x="5023594" y="4272487"/>
            <a:ext cx="6035040" cy="2566363"/>
            <a:chOff x="4541520" y="3429000"/>
            <a:chExt cx="6035040" cy="25663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FC14B6C-0740-462E-8E8D-117B6F9B82F8}"/>
                </a:ext>
              </a:extLst>
            </p:cNvPr>
            <p:cNvSpPr/>
            <p:nvPr/>
          </p:nvSpPr>
          <p:spPr>
            <a:xfrm>
              <a:off x="4541520" y="4435366"/>
              <a:ext cx="6035040" cy="713214"/>
            </a:xfrm>
            <a:prstGeom prst="rect">
              <a:avLst/>
            </a:prstGeom>
            <a:blipFill>
              <a:blip r:embed="rId4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1B88F6-AEAC-45F5-8E1A-9A422DE64D04}"/>
                </a:ext>
              </a:extLst>
            </p:cNvPr>
            <p:cNvSpPr/>
            <p:nvPr/>
          </p:nvSpPr>
          <p:spPr>
            <a:xfrm>
              <a:off x="4541520" y="3429000"/>
              <a:ext cx="6035040" cy="574565"/>
            </a:xfrm>
            <a:prstGeom prst="rect">
              <a:avLst/>
            </a:prstGeom>
            <a:blipFill>
              <a:blip r:embed="rId5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C5BF1D9-12CB-4242-9412-0E8527E04491}"/>
                </a:ext>
              </a:extLst>
            </p:cNvPr>
            <p:cNvSpPr/>
            <p:nvPr/>
          </p:nvSpPr>
          <p:spPr>
            <a:xfrm>
              <a:off x="4541520" y="5148580"/>
              <a:ext cx="6035040" cy="414983"/>
            </a:xfrm>
            <a:prstGeom prst="rect">
              <a:avLst/>
            </a:prstGeom>
            <a:gradFill flip="none" rotWithShape="1">
              <a:gsLst>
                <a:gs pos="0">
                  <a:srgbClr val="D29B65"/>
                </a:gs>
                <a:gs pos="3100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20D2C69-E5B5-4410-8ADD-591289A20929}"/>
                </a:ext>
              </a:extLst>
            </p:cNvPr>
            <p:cNvSpPr/>
            <p:nvPr/>
          </p:nvSpPr>
          <p:spPr>
            <a:xfrm flipV="1">
              <a:off x="4541520" y="4003566"/>
              <a:ext cx="6035040" cy="431800"/>
            </a:xfrm>
            <a:prstGeom prst="rect">
              <a:avLst/>
            </a:prstGeom>
            <a:gradFill flip="none" rotWithShape="1">
              <a:gsLst>
                <a:gs pos="0">
                  <a:srgbClr val="D29B65"/>
                </a:gs>
                <a:gs pos="31000">
                  <a:schemeClr val="bg2">
                    <a:lumMod val="90000"/>
                  </a:schemeClr>
                </a:gs>
                <a:gs pos="100000">
                  <a:srgbClr val="E4DBCC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E056604-D1BF-4B1C-A010-8C9A596D7059}"/>
                </a:ext>
              </a:extLst>
            </p:cNvPr>
            <p:cNvSpPr/>
            <p:nvPr/>
          </p:nvSpPr>
          <p:spPr>
            <a:xfrm>
              <a:off x="4541520" y="5563563"/>
              <a:ext cx="6035040" cy="431800"/>
            </a:xfrm>
            <a:prstGeom prst="rect">
              <a:avLst/>
            </a:prstGeom>
            <a:gradFill flip="none" rotWithShape="1">
              <a:gsLst>
                <a:gs pos="96000">
                  <a:schemeClr val="bg2">
                    <a:lumMod val="50000"/>
                  </a:schemeClr>
                </a:gs>
                <a:gs pos="0">
                  <a:schemeClr val="bg2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F0504567-B1B6-4F0F-ABF6-5C0F29BF7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1178" y="4265485"/>
            <a:ext cx="169643" cy="18612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0BFBAF-E337-4E2E-A468-0C416B4A3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9438" y="4267077"/>
            <a:ext cx="169643" cy="1861255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0BE7D06-819C-47EC-ACA6-B4C6441A7DB0}"/>
              </a:ext>
            </a:extLst>
          </p:cNvPr>
          <p:cNvSpPr/>
          <p:nvPr/>
        </p:nvSpPr>
        <p:spPr>
          <a:xfrm>
            <a:off x="2564632" y="2740922"/>
            <a:ext cx="7001648" cy="1313622"/>
          </a:xfrm>
          <a:custGeom>
            <a:avLst/>
            <a:gdLst>
              <a:gd name="connsiteX0" fmla="*/ 0 w 6049453"/>
              <a:gd name="connsiteY0" fmla="*/ 471337 h 1741559"/>
              <a:gd name="connsiteX1" fmla="*/ 4581626 w 6049453"/>
              <a:gd name="connsiteY1" fmla="*/ 57451 h 1741559"/>
              <a:gd name="connsiteX2" fmla="*/ 5871411 w 6049453"/>
              <a:gd name="connsiteY2" fmla="*/ 1587868 h 1741559"/>
              <a:gd name="connsiteX3" fmla="*/ 6006165 w 6049453"/>
              <a:gd name="connsiteY3" fmla="*/ 1607118 h 1741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49453" h="1741559">
                <a:moveTo>
                  <a:pt x="0" y="471337"/>
                </a:moveTo>
                <a:cubicBezTo>
                  <a:pt x="1801529" y="171350"/>
                  <a:pt x="3603058" y="-128637"/>
                  <a:pt x="4581626" y="57451"/>
                </a:cubicBezTo>
                <a:cubicBezTo>
                  <a:pt x="5560194" y="243539"/>
                  <a:pt x="5633988" y="1329590"/>
                  <a:pt x="5871411" y="1587868"/>
                </a:cubicBezTo>
                <a:cubicBezTo>
                  <a:pt x="6108834" y="1846146"/>
                  <a:pt x="6057499" y="1726632"/>
                  <a:pt x="6006165" y="1607118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E4C5401-4958-4CB2-9425-A44BDFFFF18C}"/>
              </a:ext>
            </a:extLst>
          </p:cNvPr>
          <p:cNvSpPr/>
          <p:nvPr/>
        </p:nvSpPr>
        <p:spPr>
          <a:xfrm>
            <a:off x="2439503" y="3135988"/>
            <a:ext cx="3706017" cy="966645"/>
          </a:xfrm>
          <a:custGeom>
            <a:avLst/>
            <a:gdLst>
              <a:gd name="connsiteX0" fmla="*/ 0 w 3234088"/>
              <a:gd name="connsiteY0" fmla="*/ 211024 h 1287677"/>
              <a:gd name="connsiteX1" fmla="*/ 1963554 w 3234088"/>
              <a:gd name="connsiteY1" fmla="*/ 66645 h 1287677"/>
              <a:gd name="connsiteX2" fmla="*/ 3003082 w 3234088"/>
              <a:gd name="connsiteY2" fmla="*/ 1154300 h 1287677"/>
              <a:gd name="connsiteX3" fmla="*/ 3234088 w 3234088"/>
              <a:gd name="connsiteY3" fmla="*/ 1231302 h 1287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4088" h="1287677">
                <a:moveTo>
                  <a:pt x="0" y="211024"/>
                </a:moveTo>
                <a:cubicBezTo>
                  <a:pt x="731520" y="60228"/>
                  <a:pt x="1463040" y="-90568"/>
                  <a:pt x="1963554" y="66645"/>
                </a:cubicBezTo>
                <a:cubicBezTo>
                  <a:pt x="2464068" y="223858"/>
                  <a:pt x="2791326" y="960191"/>
                  <a:pt x="3003082" y="1154300"/>
                </a:cubicBezTo>
                <a:cubicBezTo>
                  <a:pt x="3214838" y="1348409"/>
                  <a:pt x="3224463" y="1289855"/>
                  <a:pt x="3234088" y="1231302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760290A-9FC8-41EF-ABDB-6FD1D42A2124}"/>
              </a:ext>
            </a:extLst>
          </p:cNvPr>
          <p:cNvSpPr/>
          <p:nvPr/>
        </p:nvSpPr>
        <p:spPr>
          <a:xfrm>
            <a:off x="9875577" y="3532075"/>
            <a:ext cx="833120" cy="522468"/>
          </a:xfrm>
          <a:custGeom>
            <a:avLst/>
            <a:gdLst>
              <a:gd name="connsiteX0" fmla="*/ 0 w 833120"/>
              <a:gd name="connsiteY0" fmla="*/ 6226 h 595953"/>
              <a:gd name="connsiteX1" fmla="*/ 294640 w 833120"/>
              <a:gd name="connsiteY1" fmla="*/ 72266 h 595953"/>
              <a:gd name="connsiteX2" fmla="*/ 584200 w 833120"/>
              <a:gd name="connsiteY2" fmla="*/ 519306 h 595953"/>
              <a:gd name="connsiteX3" fmla="*/ 833120 w 833120"/>
              <a:gd name="connsiteY3" fmla="*/ 595506 h 595953"/>
              <a:gd name="connsiteX4" fmla="*/ 833120 w 833120"/>
              <a:gd name="connsiteY4" fmla="*/ 595506 h 59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3120" h="595953">
                <a:moveTo>
                  <a:pt x="0" y="6226"/>
                </a:moveTo>
                <a:cubicBezTo>
                  <a:pt x="98636" y="-3511"/>
                  <a:pt x="197273" y="-13247"/>
                  <a:pt x="294640" y="72266"/>
                </a:cubicBezTo>
                <a:cubicBezTo>
                  <a:pt x="392007" y="157779"/>
                  <a:pt x="494453" y="432099"/>
                  <a:pt x="584200" y="519306"/>
                </a:cubicBezTo>
                <a:cubicBezTo>
                  <a:pt x="673947" y="606513"/>
                  <a:pt x="833120" y="595506"/>
                  <a:pt x="833120" y="595506"/>
                </a:cubicBezTo>
                <a:lnTo>
                  <a:pt x="833120" y="595506"/>
                </a:lnTo>
              </a:path>
            </a:pathLst>
          </a:custGeom>
          <a:noFill/>
          <a:ln w="1016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8706847B-944D-45DC-970A-0001F9875A27}"/>
              </a:ext>
            </a:extLst>
          </p:cNvPr>
          <p:cNvSpPr/>
          <p:nvPr/>
        </p:nvSpPr>
        <p:spPr>
          <a:xfrm rot="5400000">
            <a:off x="11239932" y="3438571"/>
            <a:ext cx="106452" cy="1225774"/>
          </a:xfrm>
          <a:prstGeom prst="can">
            <a:avLst>
              <a:gd name="adj" fmla="val 51449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21D43A4-E40A-4F21-B799-1CFAC26AC9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2954" y="3992177"/>
            <a:ext cx="3173074" cy="30272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52B25B8-27A7-473F-AA2E-83B901CFF8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8463" y="3992176"/>
            <a:ext cx="3079531" cy="302724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98E2182F-CA16-47CD-A4FA-8AD609422505}"/>
              </a:ext>
            </a:extLst>
          </p:cNvPr>
          <p:cNvSpPr/>
          <p:nvPr/>
        </p:nvSpPr>
        <p:spPr>
          <a:xfrm>
            <a:off x="5782206" y="5176378"/>
            <a:ext cx="4436533" cy="864989"/>
          </a:xfrm>
          <a:prstGeom prst="ellipse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D95FDDB-5841-4294-A632-2450C8A301B2}"/>
              </a:ext>
            </a:extLst>
          </p:cNvPr>
          <p:cNvSpPr/>
          <p:nvPr/>
        </p:nvSpPr>
        <p:spPr>
          <a:xfrm>
            <a:off x="6285186" y="5289831"/>
            <a:ext cx="228600" cy="4571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97FF77C-9B3B-4C2B-9435-F053F978CD41}"/>
              </a:ext>
            </a:extLst>
          </p:cNvPr>
          <p:cNvSpPr/>
          <p:nvPr/>
        </p:nvSpPr>
        <p:spPr>
          <a:xfrm>
            <a:off x="6728684" y="5555669"/>
            <a:ext cx="228600" cy="4571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85F9DB9-A273-4FA7-8603-28E6DA9FDE74}"/>
              </a:ext>
            </a:extLst>
          </p:cNvPr>
          <p:cNvSpPr/>
          <p:nvPr/>
        </p:nvSpPr>
        <p:spPr>
          <a:xfrm>
            <a:off x="6513786" y="5809074"/>
            <a:ext cx="228600" cy="4571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C6407F6-87EF-49F6-864E-C9C09480F7ED}"/>
              </a:ext>
            </a:extLst>
          </p:cNvPr>
          <p:cNvSpPr/>
          <p:nvPr/>
        </p:nvSpPr>
        <p:spPr>
          <a:xfrm>
            <a:off x="7631529" y="5422446"/>
            <a:ext cx="228600" cy="4571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09E1BB-2039-4D02-BD4D-438F191ABAF4}"/>
              </a:ext>
            </a:extLst>
          </p:cNvPr>
          <p:cNvSpPr/>
          <p:nvPr/>
        </p:nvSpPr>
        <p:spPr>
          <a:xfrm>
            <a:off x="7751553" y="5731685"/>
            <a:ext cx="228600" cy="4571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E496FAA-F0B5-4B64-9EF1-91D0430579DF}"/>
              </a:ext>
            </a:extLst>
          </p:cNvPr>
          <p:cNvSpPr/>
          <p:nvPr/>
        </p:nvSpPr>
        <p:spPr>
          <a:xfrm>
            <a:off x="8545904" y="5359068"/>
            <a:ext cx="228600" cy="4571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8520322-20E9-4946-9435-87ED9917B2FA}"/>
              </a:ext>
            </a:extLst>
          </p:cNvPr>
          <p:cNvSpPr/>
          <p:nvPr/>
        </p:nvSpPr>
        <p:spPr>
          <a:xfrm>
            <a:off x="8564857" y="5691949"/>
            <a:ext cx="228600" cy="4571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0ACE9B-8219-466D-AC3F-1A633062D137}"/>
              </a:ext>
            </a:extLst>
          </p:cNvPr>
          <p:cNvGrpSpPr/>
          <p:nvPr/>
        </p:nvGrpSpPr>
        <p:grpSpPr>
          <a:xfrm>
            <a:off x="440422" y="3010381"/>
            <a:ext cx="1535799" cy="1502742"/>
            <a:chOff x="440422" y="2582364"/>
            <a:chExt cx="1535799" cy="1502742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8AB6041-7651-4EFF-BF59-8771FDFD22D8}"/>
                </a:ext>
              </a:extLst>
            </p:cNvPr>
            <p:cNvSpPr/>
            <p:nvPr/>
          </p:nvSpPr>
          <p:spPr>
            <a:xfrm>
              <a:off x="649071" y="2582364"/>
              <a:ext cx="1327150" cy="1070480"/>
            </a:xfrm>
            <a:custGeom>
              <a:avLst/>
              <a:gdLst>
                <a:gd name="connsiteX0" fmla="*/ 1327150 w 1327150"/>
                <a:gd name="connsiteY0" fmla="*/ 302238 h 1070480"/>
                <a:gd name="connsiteX1" fmla="*/ 1289050 w 1327150"/>
                <a:gd name="connsiteY1" fmla="*/ 79988 h 1070480"/>
                <a:gd name="connsiteX2" fmla="*/ 1098550 w 1327150"/>
                <a:gd name="connsiteY2" fmla="*/ 73638 h 1070480"/>
                <a:gd name="connsiteX3" fmla="*/ 742950 w 1327150"/>
                <a:gd name="connsiteY3" fmla="*/ 975338 h 1070480"/>
                <a:gd name="connsiteX4" fmla="*/ 0 w 1327150"/>
                <a:gd name="connsiteY4" fmla="*/ 1051538 h 107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7150" h="1070480">
                  <a:moveTo>
                    <a:pt x="1327150" y="302238"/>
                  </a:moveTo>
                  <a:cubicBezTo>
                    <a:pt x="1327150" y="210163"/>
                    <a:pt x="1327150" y="118088"/>
                    <a:pt x="1289050" y="79988"/>
                  </a:cubicBezTo>
                  <a:cubicBezTo>
                    <a:pt x="1250950" y="41888"/>
                    <a:pt x="1189567" y="-75587"/>
                    <a:pt x="1098550" y="73638"/>
                  </a:cubicBezTo>
                  <a:cubicBezTo>
                    <a:pt x="1007533" y="222863"/>
                    <a:pt x="926042" y="812355"/>
                    <a:pt x="742950" y="975338"/>
                  </a:cubicBezTo>
                  <a:cubicBezTo>
                    <a:pt x="559858" y="1138321"/>
                    <a:pt x="111125" y="1039896"/>
                    <a:pt x="0" y="105153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FDB7DE-DD29-4357-847A-41144F9D495F}"/>
                </a:ext>
              </a:extLst>
            </p:cNvPr>
            <p:cNvSpPr txBox="1"/>
            <p:nvPr/>
          </p:nvSpPr>
          <p:spPr>
            <a:xfrm>
              <a:off x="440422" y="3623441"/>
              <a:ext cx="12048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Power Input</a:t>
              </a:r>
            </a:p>
            <a:p>
              <a:r>
                <a:rPr lang="en-US" sz="1200" b="1" dirty="0"/>
                <a:t>380-420 Volt AC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BB7E38A-574A-4E8E-9783-468FCEA421DE}"/>
              </a:ext>
            </a:extLst>
          </p:cNvPr>
          <p:cNvSpPr txBox="1"/>
          <p:nvPr/>
        </p:nvSpPr>
        <p:spPr>
          <a:xfrm>
            <a:off x="6262283" y="3217687"/>
            <a:ext cx="1285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Anode</a:t>
            </a:r>
          </a:p>
          <a:p>
            <a:r>
              <a:rPr lang="en-US" sz="1200" dirty="0"/>
              <a:t>Injection / abandoned well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C0A08C-9D35-4A91-807D-6052E8547F6F}"/>
              </a:ext>
            </a:extLst>
          </p:cNvPr>
          <p:cNvSpPr txBox="1"/>
          <p:nvPr/>
        </p:nvSpPr>
        <p:spPr>
          <a:xfrm>
            <a:off x="9817132" y="3092157"/>
            <a:ext cx="752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Cathode</a:t>
            </a:r>
          </a:p>
          <a:p>
            <a:r>
              <a:rPr lang="en-US" sz="1200" dirty="0"/>
              <a:t>Producer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1C0BD7E-A2D8-4270-A66F-B8D67F4E2181}"/>
              </a:ext>
            </a:extLst>
          </p:cNvPr>
          <p:cNvGrpSpPr/>
          <p:nvPr/>
        </p:nvGrpSpPr>
        <p:grpSpPr>
          <a:xfrm>
            <a:off x="7189252" y="4899179"/>
            <a:ext cx="1906688" cy="1472562"/>
            <a:chOff x="7168405" y="4468156"/>
            <a:chExt cx="1906688" cy="147256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E1C20D1-8DC7-44AD-9211-C44C1FC3F470}"/>
                </a:ext>
              </a:extLst>
            </p:cNvPr>
            <p:cNvSpPr txBox="1"/>
            <p:nvPr/>
          </p:nvSpPr>
          <p:spPr>
            <a:xfrm>
              <a:off x="7168405" y="5663719"/>
              <a:ext cx="18095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Electro chemistry reaction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6D8D266-BAAC-4785-8A40-5E1EE8F3DE4A}"/>
                </a:ext>
              </a:extLst>
            </p:cNvPr>
            <p:cNvSpPr txBox="1"/>
            <p:nvPr/>
          </p:nvSpPr>
          <p:spPr>
            <a:xfrm>
              <a:off x="7200035" y="4468156"/>
              <a:ext cx="18750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Electro kinetics reaction</a:t>
              </a:r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0D3AB63-5482-4763-ABC0-0B3E0A978FF0}"/>
              </a:ext>
            </a:extLst>
          </p:cNvPr>
          <p:cNvCxnSpPr>
            <a:cxnSpLocks/>
          </p:cNvCxnSpPr>
          <p:nvPr/>
        </p:nvCxnSpPr>
        <p:spPr>
          <a:xfrm rot="16200000">
            <a:off x="9489639" y="5555669"/>
            <a:ext cx="2692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9B541DD-8B93-47F7-9854-E8342DB08256}"/>
              </a:ext>
            </a:extLst>
          </p:cNvPr>
          <p:cNvGrpSpPr/>
          <p:nvPr/>
        </p:nvGrpSpPr>
        <p:grpSpPr>
          <a:xfrm>
            <a:off x="5246608" y="707717"/>
            <a:ext cx="2254436" cy="1629466"/>
            <a:chOff x="5257950" y="46203"/>
            <a:chExt cx="2254436" cy="162946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3A1783EC-FC28-438E-94BD-4E7534B1BB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35026" b="20245"/>
            <a:stretch/>
          </p:blipFill>
          <p:spPr>
            <a:xfrm>
              <a:off x="5384253" y="303345"/>
              <a:ext cx="1025145" cy="99654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E80346A-667D-41B2-BB87-8A7CBABB6FCB}"/>
                </a:ext>
              </a:extLst>
            </p:cNvPr>
            <p:cNvSpPr txBox="1"/>
            <p:nvPr/>
          </p:nvSpPr>
          <p:spPr>
            <a:xfrm>
              <a:off x="5575114" y="46203"/>
              <a:ext cx="5645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Office</a:t>
              </a:r>
              <a:endParaRPr lang="en-US" sz="12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CD9274C-D37C-48A5-8CFB-CB473BC88C29}"/>
                </a:ext>
              </a:extLst>
            </p:cNvPr>
            <p:cNvSpPr txBox="1"/>
            <p:nvPr/>
          </p:nvSpPr>
          <p:spPr>
            <a:xfrm>
              <a:off x="5257950" y="1214004"/>
              <a:ext cx="22544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Online Monitoring &amp; control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Data analysis</a:t>
              </a: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A03479-7285-4F47-8407-52EC721663A3}"/>
              </a:ext>
            </a:extLst>
          </p:cNvPr>
          <p:cNvCxnSpPr>
            <a:cxnSpLocks/>
          </p:cNvCxnSpPr>
          <p:nvPr/>
        </p:nvCxnSpPr>
        <p:spPr>
          <a:xfrm flipV="1">
            <a:off x="3058926" y="1497944"/>
            <a:ext cx="2199024" cy="52663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A4DF8A9-357B-42FF-A4C2-FB618A52842D}"/>
              </a:ext>
            </a:extLst>
          </p:cNvPr>
          <p:cNvCxnSpPr>
            <a:cxnSpLocks/>
          </p:cNvCxnSpPr>
          <p:nvPr/>
        </p:nvCxnSpPr>
        <p:spPr>
          <a:xfrm flipH="1">
            <a:off x="2959076" y="1229633"/>
            <a:ext cx="2159024" cy="531122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D1BAE86-5493-4F92-9313-7DFDFE1DEDE2}"/>
              </a:ext>
            </a:extLst>
          </p:cNvPr>
          <p:cNvGrpSpPr/>
          <p:nvPr/>
        </p:nvGrpSpPr>
        <p:grpSpPr>
          <a:xfrm>
            <a:off x="437608" y="901883"/>
            <a:ext cx="2503159" cy="1650310"/>
            <a:chOff x="437608" y="473866"/>
            <a:chExt cx="2503159" cy="1650310"/>
          </a:xfrm>
        </p:grpSpPr>
        <p:sp>
          <p:nvSpPr>
            <p:cNvPr id="55" name="Speech Bubble: Rectangle 54">
              <a:extLst>
                <a:ext uri="{FF2B5EF4-FFF2-40B4-BE49-F238E27FC236}">
                  <a16:creationId xmlns:a16="http://schemas.microsoft.com/office/drawing/2014/main" id="{45FF4475-6DDF-45EB-A4FE-98D3CC58973E}"/>
                </a:ext>
              </a:extLst>
            </p:cNvPr>
            <p:cNvSpPr/>
            <p:nvPr/>
          </p:nvSpPr>
          <p:spPr>
            <a:xfrm>
              <a:off x="536959" y="473867"/>
              <a:ext cx="2322766" cy="1192122"/>
            </a:xfrm>
            <a:prstGeom prst="wedgeRectCallout">
              <a:avLst>
                <a:gd name="adj1" fmla="val 28452"/>
                <a:gd name="adj2" fmla="val 130554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5A3CA26-0737-4AF3-A6B6-239A55F32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1119" y="729775"/>
              <a:ext cx="1858567" cy="899876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C1B0DA-556E-454F-BDBA-2D97E40465DA}"/>
                </a:ext>
              </a:extLst>
            </p:cNvPr>
            <p:cNvSpPr txBox="1"/>
            <p:nvPr/>
          </p:nvSpPr>
          <p:spPr>
            <a:xfrm>
              <a:off x="649071" y="473866"/>
              <a:ext cx="22916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On-site Monitoring &amp; control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F804247-D75C-4864-AB1B-F1BF133B98F1}"/>
                </a:ext>
              </a:extLst>
            </p:cNvPr>
            <p:cNvSpPr txBox="1"/>
            <p:nvPr/>
          </p:nvSpPr>
          <p:spPr>
            <a:xfrm>
              <a:off x="437608" y="1662511"/>
              <a:ext cx="14156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1125" indent="-111125">
                <a:buFont typeface="Arial" panose="020B0604020202020204" pitchFamily="34" charset="0"/>
                <a:buChar char="•"/>
              </a:pPr>
              <a:r>
                <a:rPr lang="en-US" sz="1200" dirty="0"/>
                <a:t>DC Voltage out</a:t>
              </a:r>
            </a:p>
            <a:p>
              <a:pPr marL="111125" indent="-111125">
                <a:buFont typeface="Arial" panose="020B0604020202020204" pitchFamily="34" charset="0"/>
                <a:buChar char="•"/>
              </a:pPr>
              <a:r>
                <a:rPr lang="en-US" sz="1200" dirty="0"/>
                <a:t>Current out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B1C1E67-5820-44B9-BAED-6A2A5CF0AB69}"/>
              </a:ext>
            </a:extLst>
          </p:cNvPr>
          <p:cNvGrpSpPr/>
          <p:nvPr/>
        </p:nvGrpSpPr>
        <p:grpSpPr>
          <a:xfrm>
            <a:off x="6728684" y="1386739"/>
            <a:ext cx="5101169" cy="1400516"/>
            <a:chOff x="4525927" y="-7638"/>
            <a:chExt cx="5101169" cy="1400516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A74CECF-ECDF-493E-92B4-15AF7D4AF6F3}"/>
                </a:ext>
              </a:extLst>
            </p:cNvPr>
            <p:cNvGrpSpPr/>
            <p:nvPr/>
          </p:nvGrpSpPr>
          <p:grpSpPr>
            <a:xfrm>
              <a:off x="7518370" y="200756"/>
              <a:ext cx="2108726" cy="1192122"/>
              <a:chOff x="9676874" y="-218650"/>
              <a:chExt cx="2108726" cy="1192122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F51720A-A32F-4929-A3B0-F380129C100A}"/>
                  </a:ext>
                </a:extLst>
              </p:cNvPr>
              <p:cNvSpPr/>
              <p:nvPr/>
            </p:nvSpPr>
            <p:spPr>
              <a:xfrm>
                <a:off x="9676874" y="-218650"/>
                <a:ext cx="2108726" cy="119212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29BEF68-F2B8-47B3-8C86-EBECAEFDA698}"/>
                  </a:ext>
                </a:extLst>
              </p:cNvPr>
              <p:cNvSpPr txBox="1"/>
              <p:nvPr/>
            </p:nvSpPr>
            <p:spPr>
              <a:xfrm>
                <a:off x="10012060" y="-207824"/>
                <a:ext cx="143835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Production report</a:t>
                </a:r>
              </a:p>
            </p:txBody>
          </p:sp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9053EA30-8BC5-4722-A691-93E084D4C7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81772" y="57875"/>
                <a:ext cx="1900226" cy="828505"/>
              </a:xfrm>
              <a:prstGeom prst="rect">
                <a:avLst/>
              </a:prstGeom>
            </p:spPr>
          </p:pic>
        </p:grp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40D2C9A5-656E-4418-A46F-8C9C4D6E41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5927" y="-7638"/>
              <a:ext cx="2860394" cy="66949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McK Disclaimer">
            <a:extLst>
              <a:ext uri="{FF2B5EF4-FFF2-40B4-BE49-F238E27FC236}">
                <a16:creationId xmlns:a16="http://schemas.microsoft.com/office/drawing/2014/main" id="{04B94B32-2389-4668-87A8-A8B9593F109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33634" y="87158"/>
            <a:ext cx="9246637" cy="4924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/>
        </p:spPr>
        <p:txBody>
          <a:bodyPr wrap="square" lIns="182880" tIns="0" rIns="0" bIns="0" anchor="b">
            <a:spAutoFit/>
          </a:bodyPr>
          <a:lstStyle/>
          <a:p>
            <a:pPr lvl="0" algn="ctr" defTabSz="783518" eaLnBrk="0" hangingPunct="0"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Lt BT"/>
                <a:cs typeface="Arial" panose="020B0604020202020204" pitchFamily="34" charset="0"/>
              </a:rPr>
              <a:t>Electric Enhance Oil Recovery (EEOR)</a:t>
            </a:r>
            <a:endParaRPr kumimoji="0" lang="id-ID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Lt BT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4D9B70B-1B24-4892-8E90-50A9C6DB1617}"/>
              </a:ext>
            </a:extLst>
          </p:cNvPr>
          <p:cNvSpPr/>
          <p:nvPr/>
        </p:nvSpPr>
        <p:spPr>
          <a:xfrm>
            <a:off x="154009" y="5438598"/>
            <a:ext cx="47363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111111"/>
                </a:solidFill>
                <a:latin typeface="Roboto"/>
              </a:rPr>
              <a:t>Conceptual scheme of EAOR implementation with monitoring and control system</a:t>
            </a:r>
            <a:endParaRPr lang="en-US" sz="1400" b="0" i="0" dirty="0">
              <a:solidFill>
                <a:srgbClr val="111111"/>
              </a:solidFill>
              <a:effectLst/>
              <a:latin typeface="Roboto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C5308F-632F-49CA-9B42-51883E81AF17}"/>
              </a:ext>
            </a:extLst>
          </p:cNvPr>
          <p:cNvSpPr txBox="1"/>
          <p:nvPr/>
        </p:nvSpPr>
        <p:spPr>
          <a:xfrm>
            <a:off x="7307900" y="2910564"/>
            <a:ext cx="15518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Monitoring wells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7D5CE33-3A32-4CC6-A665-ACF21039EFEF}"/>
              </a:ext>
            </a:extLst>
          </p:cNvPr>
          <p:cNvGrpSpPr/>
          <p:nvPr/>
        </p:nvGrpSpPr>
        <p:grpSpPr>
          <a:xfrm>
            <a:off x="8180373" y="3331453"/>
            <a:ext cx="758211" cy="600347"/>
            <a:chOff x="8180373" y="3331453"/>
            <a:chExt cx="758211" cy="60034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147D71B-7481-4D54-8643-AD9F5C35F0AB}"/>
                </a:ext>
              </a:extLst>
            </p:cNvPr>
            <p:cNvGrpSpPr/>
            <p:nvPr/>
          </p:nvGrpSpPr>
          <p:grpSpPr>
            <a:xfrm>
              <a:off x="8180373" y="3331453"/>
              <a:ext cx="362385" cy="600347"/>
              <a:chOff x="6917266" y="868257"/>
              <a:chExt cx="1262704" cy="2433743"/>
            </a:xfrm>
          </p:grpSpPr>
          <p:sp>
            <p:nvSpPr>
              <p:cNvPr id="71" name="Cylinder 70">
                <a:extLst>
                  <a:ext uri="{FF2B5EF4-FFF2-40B4-BE49-F238E27FC236}">
                    <a16:creationId xmlns:a16="http://schemas.microsoft.com/office/drawing/2014/main" id="{09EAE87B-C2D1-4B45-A1FE-A655382AD8AC}"/>
                  </a:ext>
                </a:extLst>
              </p:cNvPr>
              <p:cNvSpPr/>
              <p:nvPr/>
            </p:nvSpPr>
            <p:spPr>
              <a:xfrm>
                <a:off x="6917266" y="2870200"/>
                <a:ext cx="1049867" cy="431800"/>
              </a:xfrm>
              <a:prstGeom prst="can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Cylinder 71">
                <a:extLst>
                  <a:ext uri="{FF2B5EF4-FFF2-40B4-BE49-F238E27FC236}">
                    <a16:creationId xmlns:a16="http://schemas.microsoft.com/office/drawing/2014/main" id="{28736E4C-23E1-4EA0-8601-91F0547CFE35}"/>
                  </a:ext>
                </a:extLst>
              </p:cNvPr>
              <p:cNvSpPr/>
              <p:nvPr/>
            </p:nvSpPr>
            <p:spPr>
              <a:xfrm>
                <a:off x="7190316" y="1568430"/>
                <a:ext cx="503765" cy="1463084"/>
              </a:xfrm>
              <a:prstGeom prst="can">
                <a:avLst>
                  <a:gd name="adj" fmla="val 3487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478A2349-42ED-4C31-B0C3-FBA717206078}"/>
                  </a:ext>
                </a:extLst>
              </p:cNvPr>
              <p:cNvSpPr/>
              <p:nvPr/>
            </p:nvSpPr>
            <p:spPr>
              <a:xfrm>
                <a:off x="6993467" y="1066991"/>
                <a:ext cx="863600" cy="768216"/>
              </a:xfrm>
              <a:prstGeom prst="cube">
                <a:avLst>
                  <a:gd name="adj" fmla="val 3137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Cylinder 73">
                <a:extLst>
                  <a:ext uri="{FF2B5EF4-FFF2-40B4-BE49-F238E27FC236}">
                    <a16:creationId xmlns:a16="http://schemas.microsoft.com/office/drawing/2014/main" id="{8DD74EA5-8E74-49B7-99A0-1F07DFDD1336}"/>
                  </a:ext>
                </a:extLst>
              </p:cNvPr>
              <p:cNvSpPr/>
              <p:nvPr/>
            </p:nvSpPr>
            <p:spPr>
              <a:xfrm rot="5400000">
                <a:off x="7707723" y="1161528"/>
                <a:ext cx="365352" cy="579143"/>
              </a:xfrm>
              <a:prstGeom prst="can">
                <a:avLst>
                  <a:gd name="adj" fmla="val 51449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Cylinder 74">
                <a:extLst>
                  <a:ext uri="{FF2B5EF4-FFF2-40B4-BE49-F238E27FC236}">
                    <a16:creationId xmlns:a16="http://schemas.microsoft.com/office/drawing/2014/main" id="{36DBA209-64D2-44F1-A527-F081D3C0BB89}"/>
                  </a:ext>
                </a:extLst>
              </p:cNvPr>
              <p:cNvSpPr/>
              <p:nvPr/>
            </p:nvSpPr>
            <p:spPr>
              <a:xfrm>
                <a:off x="7190315" y="868257"/>
                <a:ext cx="503765" cy="365353"/>
              </a:xfrm>
              <a:prstGeom prst="can">
                <a:avLst>
                  <a:gd name="adj" fmla="val 32556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10E1A8EC-D9E9-4E89-9C9B-97E704C3385A}"/>
                </a:ext>
              </a:extLst>
            </p:cNvPr>
            <p:cNvCxnSpPr/>
            <p:nvPr/>
          </p:nvCxnSpPr>
          <p:spPr>
            <a:xfrm>
              <a:off x="8512420" y="3482516"/>
              <a:ext cx="426164" cy="318083"/>
            </a:xfrm>
            <a:prstGeom prst="bentConnector3">
              <a:avLst/>
            </a:prstGeom>
            <a:noFill/>
            <a:ln w="730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C738E91-20B2-4ED0-A5FB-CC0FB03B1340}"/>
              </a:ext>
            </a:extLst>
          </p:cNvPr>
          <p:cNvGrpSpPr/>
          <p:nvPr/>
        </p:nvGrpSpPr>
        <p:grpSpPr>
          <a:xfrm>
            <a:off x="7460409" y="3139060"/>
            <a:ext cx="501972" cy="511443"/>
            <a:chOff x="7207288" y="3181967"/>
            <a:chExt cx="501972" cy="511443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E18BD3B-10A5-4A96-86AB-14D54B02E452}"/>
                </a:ext>
              </a:extLst>
            </p:cNvPr>
            <p:cNvGrpSpPr/>
            <p:nvPr/>
          </p:nvGrpSpPr>
          <p:grpSpPr>
            <a:xfrm flipH="1">
              <a:off x="7475029" y="3181967"/>
              <a:ext cx="234231" cy="511443"/>
              <a:chOff x="6917266" y="868257"/>
              <a:chExt cx="1262704" cy="2433743"/>
            </a:xfrm>
          </p:grpSpPr>
          <p:sp>
            <p:nvSpPr>
              <p:cNvPr id="79" name="Cylinder 78">
                <a:extLst>
                  <a:ext uri="{FF2B5EF4-FFF2-40B4-BE49-F238E27FC236}">
                    <a16:creationId xmlns:a16="http://schemas.microsoft.com/office/drawing/2014/main" id="{67079ECC-B4E8-4C66-A688-8773078C6961}"/>
                  </a:ext>
                </a:extLst>
              </p:cNvPr>
              <p:cNvSpPr/>
              <p:nvPr/>
            </p:nvSpPr>
            <p:spPr>
              <a:xfrm>
                <a:off x="6917266" y="2870200"/>
                <a:ext cx="1049867" cy="431800"/>
              </a:xfrm>
              <a:prstGeom prst="can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Cylinder 79">
                <a:extLst>
                  <a:ext uri="{FF2B5EF4-FFF2-40B4-BE49-F238E27FC236}">
                    <a16:creationId xmlns:a16="http://schemas.microsoft.com/office/drawing/2014/main" id="{9C3F7C44-B1E8-4016-B820-A9C523730093}"/>
                  </a:ext>
                </a:extLst>
              </p:cNvPr>
              <p:cNvSpPr/>
              <p:nvPr/>
            </p:nvSpPr>
            <p:spPr>
              <a:xfrm>
                <a:off x="7190316" y="1568430"/>
                <a:ext cx="503765" cy="1463084"/>
              </a:xfrm>
              <a:prstGeom prst="can">
                <a:avLst>
                  <a:gd name="adj" fmla="val 3487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5D0945E-1B90-4A12-8C57-FE80286803D0}"/>
                  </a:ext>
                </a:extLst>
              </p:cNvPr>
              <p:cNvSpPr/>
              <p:nvPr/>
            </p:nvSpPr>
            <p:spPr>
              <a:xfrm>
                <a:off x="6993467" y="1066991"/>
                <a:ext cx="863600" cy="768216"/>
              </a:xfrm>
              <a:prstGeom prst="cube">
                <a:avLst>
                  <a:gd name="adj" fmla="val 3137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Cylinder 81">
                <a:extLst>
                  <a:ext uri="{FF2B5EF4-FFF2-40B4-BE49-F238E27FC236}">
                    <a16:creationId xmlns:a16="http://schemas.microsoft.com/office/drawing/2014/main" id="{83FC442F-7669-498D-8BAC-7C6B512D0EAE}"/>
                  </a:ext>
                </a:extLst>
              </p:cNvPr>
              <p:cNvSpPr/>
              <p:nvPr/>
            </p:nvSpPr>
            <p:spPr>
              <a:xfrm rot="5400000">
                <a:off x="7707723" y="1161528"/>
                <a:ext cx="365352" cy="579143"/>
              </a:xfrm>
              <a:prstGeom prst="can">
                <a:avLst>
                  <a:gd name="adj" fmla="val 51449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Cylinder 82">
                <a:extLst>
                  <a:ext uri="{FF2B5EF4-FFF2-40B4-BE49-F238E27FC236}">
                    <a16:creationId xmlns:a16="http://schemas.microsoft.com/office/drawing/2014/main" id="{2681A9CB-F358-4D10-9AAE-1B6B8A0C58FD}"/>
                  </a:ext>
                </a:extLst>
              </p:cNvPr>
              <p:cNvSpPr/>
              <p:nvPr/>
            </p:nvSpPr>
            <p:spPr>
              <a:xfrm>
                <a:off x="7190315" y="868257"/>
                <a:ext cx="503765" cy="365353"/>
              </a:xfrm>
              <a:prstGeom prst="can">
                <a:avLst>
                  <a:gd name="adj" fmla="val 32556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8" name="Connector: Elbow 77">
              <a:extLst>
                <a:ext uri="{FF2B5EF4-FFF2-40B4-BE49-F238E27FC236}">
                  <a16:creationId xmlns:a16="http://schemas.microsoft.com/office/drawing/2014/main" id="{89D225DC-1888-4734-B8CA-98352512576B}"/>
                </a:ext>
              </a:extLst>
            </p:cNvPr>
            <p:cNvCxnSpPr>
              <a:cxnSpLocks/>
              <a:endCxn id="82" idx="1"/>
            </p:cNvCxnSpPr>
            <p:nvPr/>
          </p:nvCxnSpPr>
          <p:spPr>
            <a:xfrm flipV="1">
              <a:off x="7207288" y="3304450"/>
              <a:ext cx="267742" cy="234568"/>
            </a:xfrm>
            <a:prstGeom prst="bentConnector3">
              <a:avLst/>
            </a:prstGeom>
            <a:noFill/>
            <a:ln w="539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61E098A-726E-4721-B111-380957B74B90}"/>
              </a:ext>
            </a:extLst>
          </p:cNvPr>
          <p:cNvCxnSpPr/>
          <p:nvPr/>
        </p:nvCxnSpPr>
        <p:spPr>
          <a:xfrm>
            <a:off x="10744652" y="4053889"/>
            <a:ext cx="2692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1924795-3250-4DE9-B778-D19670DCCE4D}"/>
              </a:ext>
            </a:extLst>
          </p:cNvPr>
          <p:cNvCxnSpPr/>
          <p:nvPr/>
        </p:nvCxnSpPr>
        <p:spPr>
          <a:xfrm>
            <a:off x="11270060" y="4052445"/>
            <a:ext cx="2692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5804DFC-DEA2-4617-BCDE-0E355BC41E2F}"/>
              </a:ext>
            </a:extLst>
          </p:cNvPr>
          <p:cNvSpPr txBox="1"/>
          <p:nvPr/>
        </p:nvSpPr>
        <p:spPr>
          <a:xfrm>
            <a:off x="11229549" y="3540852"/>
            <a:ext cx="941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Flow meter</a:t>
            </a:r>
          </a:p>
        </p:txBody>
      </p:sp>
      <p:sp>
        <p:nvSpPr>
          <p:cNvPr id="87" name="Cube 86">
            <a:extLst>
              <a:ext uri="{FF2B5EF4-FFF2-40B4-BE49-F238E27FC236}">
                <a16:creationId xmlns:a16="http://schemas.microsoft.com/office/drawing/2014/main" id="{E6782A90-F492-4BF8-B296-FCB5B767405C}"/>
              </a:ext>
            </a:extLst>
          </p:cNvPr>
          <p:cNvSpPr/>
          <p:nvPr/>
        </p:nvSpPr>
        <p:spPr>
          <a:xfrm>
            <a:off x="11615512" y="3856498"/>
            <a:ext cx="465666" cy="325252"/>
          </a:xfrm>
          <a:prstGeom prst="cub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C25FC1F-8B0F-4733-B191-C98082201F18}"/>
              </a:ext>
            </a:extLst>
          </p:cNvPr>
          <p:cNvCxnSpPr>
            <a:cxnSpLocks/>
          </p:cNvCxnSpPr>
          <p:nvPr/>
        </p:nvCxnSpPr>
        <p:spPr>
          <a:xfrm flipH="1" flipV="1">
            <a:off x="11058634" y="2961387"/>
            <a:ext cx="578156" cy="47571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6FE5F9C3-0528-47F3-8070-E8D93F71DA07}"/>
              </a:ext>
            </a:extLst>
          </p:cNvPr>
          <p:cNvSpPr/>
          <p:nvPr/>
        </p:nvSpPr>
        <p:spPr>
          <a:xfrm flipH="1">
            <a:off x="5066672" y="3548102"/>
            <a:ext cx="833120" cy="522468"/>
          </a:xfrm>
          <a:custGeom>
            <a:avLst/>
            <a:gdLst>
              <a:gd name="connsiteX0" fmla="*/ 0 w 833120"/>
              <a:gd name="connsiteY0" fmla="*/ 6226 h 595953"/>
              <a:gd name="connsiteX1" fmla="*/ 294640 w 833120"/>
              <a:gd name="connsiteY1" fmla="*/ 72266 h 595953"/>
              <a:gd name="connsiteX2" fmla="*/ 584200 w 833120"/>
              <a:gd name="connsiteY2" fmla="*/ 519306 h 595953"/>
              <a:gd name="connsiteX3" fmla="*/ 833120 w 833120"/>
              <a:gd name="connsiteY3" fmla="*/ 595506 h 595953"/>
              <a:gd name="connsiteX4" fmla="*/ 833120 w 833120"/>
              <a:gd name="connsiteY4" fmla="*/ 595506 h 59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3120" h="595953">
                <a:moveTo>
                  <a:pt x="0" y="6226"/>
                </a:moveTo>
                <a:cubicBezTo>
                  <a:pt x="98636" y="-3511"/>
                  <a:pt x="197273" y="-13247"/>
                  <a:pt x="294640" y="72266"/>
                </a:cubicBezTo>
                <a:cubicBezTo>
                  <a:pt x="392007" y="157779"/>
                  <a:pt x="494453" y="432099"/>
                  <a:pt x="584200" y="519306"/>
                </a:cubicBezTo>
                <a:cubicBezTo>
                  <a:pt x="673947" y="606513"/>
                  <a:pt x="833120" y="595506"/>
                  <a:pt x="833120" y="595506"/>
                </a:cubicBezTo>
                <a:lnTo>
                  <a:pt x="833120" y="595506"/>
                </a:lnTo>
              </a:path>
            </a:pathLst>
          </a:custGeom>
          <a:noFill/>
          <a:ln w="1016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1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6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30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150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1797 0.00301 L 0.25755 0.01342 " pathEditMode="relative" rAng="0" ptsTypes="AA">
                                      <p:cBhvr>
                                        <p:cTn id="39" dur="3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79" y="50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repeatCount="indefinite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2149 4.07407E-6 L 0.22031 0.00671 " pathEditMode="relative" rAng="0" ptsTypes="AA">
                                      <p:cBhvr>
                                        <p:cTn id="44" dur="3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83" y="32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repeatCount="indefinite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2.08333E-7 -1.48148E-6 L 0.2388 0.00787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40" y="394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repeatCount="indefinite" accel="50000" decel="50000" fill="hold" grpId="0" nodeType="withEffect">
                                  <p:stCondLst>
                                    <p:cond delay="2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54167E-6 -1.48148E-6 L 0.14713 0.00741 " pathEditMode="relative" rAng="0" ptsTypes="AA">
                                      <p:cBhvr>
                                        <p:cTn id="54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57" y="37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3.7037E-7 L 0.13724 -0.00185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62" y="-93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repeatCount="indefinite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54167E-6 -2.22222E-6 L 0.07213 -2.22222E-6 " pathEditMode="relative" rAng="0" ptsTypes="AA">
                                      <p:cBhvr>
                                        <p:cTn id="64" dur="3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7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repeatCount="indefinite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04167E-6 -1.85185E-6 L 0.07148 0.00255 " pathEditMode="relative" rAng="0" ptsTypes="AA">
                                      <p:cBhvr>
                                        <p:cTn id="69" dur="3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8" y="116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repeatCount="indefinite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91667E-6 4.81481E-6 L 0.00104 -0.26737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-13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C0830A-D8F6-4892-BCFE-81FF8735AAAE}"/>
              </a:ext>
            </a:extLst>
          </p:cNvPr>
          <p:cNvSpPr/>
          <p:nvPr/>
        </p:nvSpPr>
        <p:spPr>
          <a:xfrm>
            <a:off x="357387" y="839454"/>
            <a:ext cx="635330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ysClr val="windowText" lastClr="000000"/>
                </a:solidFill>
              </a:rPr>
              <a:t>LATAR BELAKANG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Hasil uji </a:t>
            </a:r>
            <a:r>
              <a:rPr lang="en-US" sz="2000" dirty="0" err="1">
                <a:solidFill>
                  <a:sysClr val="windowText" lastClr="000000"/>
                </a:solidFill>
              </a:rPr>
              <a:t>coba</a:t>
            </a:r>
            <a:r>
              <a:rPr lang="en-US" sz="2000" dirty="0">
                <a:solidFill>
                  <a:sysClr val="windowText" lastClr="000000"/>
                </a:solidFill>
              </a:rPr>
              <a:t> </a:t>
            </a:r>
            <a:r>
              <a:rPr lang="en-US" sz="2000" dirty="0" err="1">
                <a:solidFill>
                  <a:sysClr val="windowText" lastClr="000000"/>
                </a:solidFill>
              </a:rPr>
              <a:t>metode</a:t>
            </a:r>
            <a:r>
              <a:rPr lang="en-US" sz="2000" dirty="0">
                <a:solidFill>
                  <a:sysClr val="windowText" lastClr="000000"/>
                </a:solidFill>
              </a:rPr>
              <a:t> E-EOR di </a:t>
            </a:r>
            <a:r>
              <a:rPr lang="en-US" sz="2000" dirty="0" err="1">
                <a:solidFill>
                  <a:sysClr val="windowText" lastClr="000000"/>
                </a:solidFill>
              </a:rPr>
              <a:t>lapangan</a:t>
            </a:r>
            <a:r>
              <a:rPr lang="en-US" sz="2000" dirty="0">
                <a:solidFill>
                  <a:sysClr val="windowText" lastClr="000000"/>
                </a:solidFill>
              </a:rPr>
              <a:t> </a:t>
            </a:r>
            <a:r>
              <a:rPr lang="en-US" sz="2000" dirty="0" err="1">
                <a:solidFill>
                  <a:sysClr val="windowText" lastClr="000000"/>
                </a:solidFill>
              </a:rPr>
              <a:t>Duri</a:t>
            </a:r>
            <a:r>
              <a:rPr lang="en-US" sz="2000" dirty="0">
                <a:solidFill>
                  <a:sysClr val="windowText" lastClr="000000"/>
                </a:solidFill>
              </a:rPr>
              <a:t> dan </a:t>
            </a:r>
            <a:r>
              <a:rPr lang="en-US" sz="2000" dirty="0" err="1">
                <a:solidFill>
                  <a:sysClr val="windowText" lastClr="000000"/>
                </a:solidFill>
              </a:rPr>
              <a:t>Klamono</a:t>
            </a:r>
            <a:endParaRPr lang="en-US" sz="2000" dirty="0">
              <a:solidFill>
                <a:sysClr val="windowText" lastClr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Adanya</a:t>
            </a:r>
            <a:r>
              <a:rPr lang="en-US" sz="2000" dirty="0"/>
              <a:t> </a:t>
            </a:r>
            <a:r>
              <a:rPr lang="en-US" sz="2000" dirty="0" err="1"/>
              <a:t>permintaan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 uji </a:t>
            </a:r>
            <a:r>
              <a:rPr lang="en-US" sz="2000" dirty="0" err="1"/>
              <a:t>coba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E-EOR </a:t>
            </a:r>
            <a:r>
              <a:rPr lang="en-US" sz="2000" dirty="0" err="1"/>
              <a:t>mendorong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segera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alih</a:t>
            </a:r>
            <a:r>
              <a:rPr lang="en-US" sz="2000" dirty="0"/>
              <a:t> </a:t>
            </a:r>
            <a:r>
              <a:rPr lang="en-US" sz="2000" dirty="0" err="1"/>
              <a:t>teknologi</a:t>
            </a:r>
            <a:endParaRPr lang="en-GB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5928F5-6165-4F77-B966-43E1801CBA42}"/>
              </a:ext>
            </a:extLst>
          </p:cNvPr>
          <p:cNvSpPr/>
          <p:nvPr/>
        </p:nvSpPr>
        <p:spPr>
          <a:xfrm>
            <a:off x="359391" y="2622477"/>
            <a:ext cx="6581435" cy="166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DESKRIPSI INOVASI</a:t>
            </a:r>
          </a:p>
          <a:p>
            <a:r>
              <a:rPr lang="en-US" sz="2000" dirty="0"/>
              <a:t>Electrically Assisted Oil Recovery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metode</a:t>
            </a:r>
            <a:r>
              <a:rPr lang="en-US" sz="2000" dirty="0"/>
              <a:t> yang </a:t>
            </a:r>
            <a:r>
              <a:rPr lang="en-US" sz="2000" dirty="0" err="1"/>
              <a:t>memanfaatkan</a:t>
            </a:r>
            <a:r>
              <a:rPr lang="en-US" sz="2000" dirty="0"/>
              <a:t>  </a:t>
            </a:r>
            <a:r>
              <a:rPr lang="en-US" sz="2000" dirty="0" err="1"/>
              <a:t>arus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 DC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menghasilkan</a:t>
            </a:r>
            <a:r>
              <a:rPr lang="en-US" sz="2000" dirty="0"/>
              <a:t> </a:t>
            </a:r>
            <a:r>
              <a:rPr lang="en-US" sz="2000" dirty="0" err="1"/>
              <a:t>medan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  di </a:t>
            </a:r>
            <a:r>
              <a:rPr lang="en-US" sz="2000" dirty="0" err="1"/>
              <a:t>dalam</a:t>
            </a:r>
            <a:r>
              <a:rPr lang="en-US" sz="2000" dirty="0"/>
              <a:t> reservoir </a:t>
            </a:r>
            <a:r>
              <a:rPr lang="en-US" sz="2000" dirty="0" err="1"/>
              <a:t>diantara</a:t>
            </a:r>
            <a:r>
              <a:rPr lang="en-US" sz="2000" dirty="0"/>
              <a:t> </a:t>
            </a:r>
            <a:r>
              <a:rPr lang="en-US" sz="2000" dirty="0" err="1"/>
              <a:t>sumur</a:t>
            </a:r>
            <a:r>
              <a:rPr lang="en-US" sz="2000" dirty="0"/>
              <a:t> </a:t>
            </a:r>
            <a:r>
              <a:rPr lang="en-US" sz="2000" dirty="0" err="1"/>
              <a:t>Anoda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Katoda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menghasilkan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efek</a:t>
            </a:r>
            <a:r>
              <a:rPr lang="en-US" sz="2000" dirty="0"/>
              <a:t>, </a:t>
            </a:r>
            <a:r>
              <a:rPr lang="en-US" sz="2000" dirty="0" err="1"/>
              <a:t>yaitu</a:t>
            </a:r>
            <a:r>
              <a:rPr lang="en-US" sz="2000" dirty="0"/>
              <a:t>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9C0F6-728B-4DE5-8CD9-AC91CD213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644" y="990009"/>
            <a:ext cx="5266895" cy="32794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86C864C-1187-4A44-8DBE-CB8AB49788F1}"/>
              </a:ext>
            </a:extLst>
          </p:cNvPr>
          <p:cNvSpPr/>
          <p:nvPr/>
        </p:nvSpPr>
        <p:spPr>
          <a:xfrm>
            <a:off x="351109" y="4044483"/>
            <a:ext cx="1170605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 err="1"/>
              <a:t>Minyak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mudah</a:t>
            </a:r>
            <a:r>
              <a:rPr lang="en-US" sz="2000" dirty="0"/>
              <a:t> </a:t>
            </a:r>
            <a:r>
              <a:rPr lang="en-US" sz="2000" dirty="0" err="1"/>
              <a:t>mengalir</a:t>
            </a:r>
            <a:r>
              <a:rPr lang="en-US" sz="2000" dirty="0"/>
              <a:t> (</a:t>
            </a:r>
            <a:r>
              <a:rPr lang="en-US" sz="2000" dirty="0" err="1"/>
              <a:t>mencairkan</a:t>
            </a:r>
            <a:r>
              <a:rPr lang="en-US" sz="2000" dirty="0"/>
              <a:t> </a:t>
            </a:r>
            <a:r>
              <a:rPr lang="en-US" sz="2000" dirty="0" err="1"/>
              <a:t>viskositas</a:t>
            </a:r>
            <a:r>
              <a:rPr lang="en-US" sz="2000" dirty="0"/>
              <a:t> </a:t>
            </a:r>
            <a:r>
              <a:rPr lang="en-US" sz="2000" dirty="0" err="1"/>
              <a:t>minyak</a:t>
            </a:r>
            <a:r>
              <a:rPr lang="en-US" sz="2000" dirty="0"/>
              <a:t> di </a:t>
            </a:r>
            <a:r>
              <a:rPr lang="en-US" sz="2000" dirty="0" err="1"/>
              <a:t>sumur</a:t>
            </a:r>
            <a:r>
              <a:rPr lang="en-US" sz="2000" dirty="0"/>
              <a:t> ) </a:t>
            </a:r>
            <a:r>
              <a:rPr lang="en-US" sz="2000" dirty="0" err="1"/>
              <a:t>melalui</a:t>
            </a:r>
            <a:r>
              <a:rPr lang="en-US" sz="2000" dirty="0"/>
              <a:t> </a:t>
            </a:r>
            <a:r>
              <a:rPr lang="en-US" sz="2000" dirty="0" err="1"/>
              <a:t>reaksi</a:t>
            </a:r>
            <a:r>
              <a:rPr lang="en-US" sz="2000" dirty="0"/>
              <a:t> REDOX (</a:t>
            </a:r>
            <a:r>
              <a:rPr lang="en-US" sz="2000" dirty="0" err="1"/>
              <a:t>Elektro</a:t>
            </a:r>
            <a:r>
              <a:rPr lang="en-US" sz="2000" dirty="0"/>
              <a:t>-Chemistry)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Medan </a:t>
            </a:r>
            <a:r>
              <a:rPr lang="en-US" sz="2000" dirty="0" err="1"/>
              <a:t>listrik</a:t>
            </a:r>
            <a:r>
              <a:rPr lang="en-US" sz="2000" dirty="0"/>
              <a:t> yang </a:t>
            </a:r>
            <a:r>
              <a:rPr lang="en-US" sz="2000" dirty="0" err="1"/>
              <a:t>terbentuk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menggiring</a:t>
            </a:r>
            <a:r>
              <a:rPr lang="en-US" sz="2000" dirty="0"/>
              <a:t> (drives) </a:t>
            </a:r>
            <a:r>
              <a:rPr lang="en-US" sz="2000" dirty="0" err="1"/>
              <a:t>minyak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sumur</a:t>
            </a:r>
            <a:r>
              <a:rPr lang="en-US" sz="2000" dirty="0"/>
              <a:t> </a:t>
            </a:r>
            <a:r>
              <a:rPr lang="en-US" sz="2000" dirty="0" err="1"/>
              <a:t>anoda</a:t>
            </a:r>
            <a:r>
              <a:rPr lang="en-US" sz="2000" dirty="0"/>
              <a:t> </a:t>
            </a:r>
            <a:r>
              <a:rPr lang="en-US" sz="2000" dirty="0" err="1"/>
              <a:t>menuju</a:t>
            </a:r>
            <a:r>
              <a:rPr lang="en-US" sz="2000" dirty="0"/>
              <a:t> </a:t>
            </a:r>
            <a:r>
              <a:rPr lang="en-US" sz="2000" dirty="0" err="1"/>
              <a:t>sumur</a:t>
            </a:r>
            <a:r>
              <a:rPr lang="en-US" sz="2000" dirty="0"/>
              <a:t> </a:t>
            </a:r>
            <a:r>
              <a:rPr lang="en-US" sz="2000" dirty="0" err="1"/>
              <a:t>katoda</a:t>
            </a:r>
            <a:r>
              <a:rPr lang="en-US" sz="2000" dirty="0"/>
              <a:t> </a:t>
            </a:r>
            <a:r>
              <a:rPr lang="en-US" sz="2000" dirty="0" err="1"/>
              <a:t>melalui</a:t>
            </a:r>
            <a:r>
              <a:rPr lang="en-US" sz="2000" dirty="0"/>
              <a:t> proses </a:t>
            </a:r>
            <a:r>
              <a:rPr lang="en-US" sz="2000" dirty="0" err="1"/>
              <a:t>Elektro</a:t>
            </a:r>
            <a:r>
              <a:rPr lang="en-US" sz="2000" dirty="0"/>
              <a:t>-Osmosis.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6C42B-69E3-4FE5-B4DF-58658DFE1C04}"/>
              </a:ext>
            </a:extLst>
          </p:cNvPr>
          <p:cNvSpPr/>
          <p:nvPr/>
        </p:nvSpPr>
        <p:spPr>
          <a:xfrm>
            <a:off x="0" y="6262048"/>
            <a:ext cx="12192001" cy="595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5758">
              <a:defRPr/>
            </a:pPr>
            <a:endParaRPr lang="en-US" sz="1567">
              <a:solidFill>
                <a:prstClr val="white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C10B3-C51F-4A70-B911-8AE43BF0B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9795" y="-412595"/>
            <a:ext cx="3334213" cy="15388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0D1E0C-7235-49A4-AD11-F3D8C72ABB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2997"/>
            <a:ext cx="1572544" cy="7150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4303F8-A7D5-4051-8CF7-38343E8DD3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174" y="6451989"/>
            <a:ext cx="1689652" cy="216070"/>
          </a:xfrm>
          <a:prstGeom prst="rect">
            <a:avLst/>
          </a:prstGeom>
        </p:spPr>
      </p:pic>
      <p:pic>
        <p:nvPicPr>
          <p:cNvPr id="12" name="Graphic 12">
            <a:extLst>
              <a:ext uri="{FF2B5EF4-FFF2-40B4-BE49-F238E27FC236}">
                <a16:creationId xmlns:a16="http://schemas.microsoft.com/office/drawing/2014/main" id="{A5948E87-E369-4D1A-8466-B7404CDEEA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53365" y="6348730"/>
            <a:ext cx="410076" cy="40291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82D5C4E-4881-4EA5-B6DC-901C8B09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26" y="-8792"/>
            <a:ext cx="10515600" cy="951089"/>
          </a:xfrm>
        </p:spPr>
        <p:txBody>
          <a:bodyPr/>
          <a:lstStyle/>
          <a:p>
            <a:r>
              <a:rPr lang="en-US" b="1" dirty="0" err="1">
                <a:latin typeface="Futura Book"/>
              </a:rPr>
              <a:t>Deskripsi</a:t>
            </a:r>
            <a:r>
              <a:rPr lang="en-US" b="1" dirty="0">
                <a:latin typeface="Futura Book"/>
              </a:rPr>
              <a:t> </a:t>
            </a:r>
            <a:r>
              <a:rPr lang="en-US" b="1" dirty="0" err="1">
                <a:latin typeface="Futura Book"/>
              </a:rPr>
              <a:t>Inovasi</a:t>
            </a:r>
            <a:endParaRPr lang="en-US" b="1" dirty="0">
              <a:latin typeface="Futura Book"/>
            </a:endParaRPr>
          </a:p>
        </p:txBody>
      </p:sp>
    </p:spTree>
    <p:extLst>
      <p:ext uri="{BB962C8B-B14F-4D97-AF65-F5344CB8AC3E}">
        <p14:creationId xmlns:p14="http://schemas.microsoft.com/office/powerpoint/2010/main" val="3783415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Arrow: Right 44">
            <a:extLst>
              <a:ext uri="{FF2B5EF4-FFF2-40B4-BE49-F238E27FC236}">
                <a16:creationId xmlns:a16="http://schemas.microsoft.com/office/drawing/2014/main" id="{F2359F07-343D-41A1-B9F8-9ACA2A5336B7}"/>
              </a:ext>
            </a:extLst>
          </p:cNvPr>
          <p:cNvSpPr/>
          <p:nvPr/>
        </p:nvSpPr>
        <p:spPr>
          <a:xfrm>
            <a:off x="9831492" y="3968092"/>
            <a:ext cx="2074333" cy="660400"/>
          </a:xfrm>
          <a:prstGeom prst="rightArrow">
            <a:avLst>
              <a:gd name="adj1" fmla="val 69298"/>
              <a:gd name="adj2" fmla="val 35088"/>
            </a:avLst>
          </a:prstGeom>
          <a:solidFill>
            <a:srgbClr val="FFFF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2026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E9281048-8B6D-4407-A347-95FCE9442A66}"/>
              </a:ext>
            </a:extLst>
          </p:cNvPr>
          <p:cNvSpPr/>
          <p:nvPr/>
        </p:nvSpPr>
        <p:spPr>
          <a:xfrm>
            <a:off x="242144" y="1380854"/>
            <a:ext cx="2722880" cy="2346840"/>
          </a:xfrm>
          <a:prstGeom prst="wedgeRectCallout">
            <a:avLst>
              <a:gd name="adj1" fmla="val 11256"/>
              <a:gd name="adj2" fmla="val 65315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123EE91-076A-438F-8F4C-63AED05554CE}"/>
              </a:ext>
            </a:extLst>
          </p:cNvPr>
          <p:cNvSpPr/>
          <p:nvPr/>
        </p:nvSpPr>
        <p:spPr>
          <a:xfrm>
            <a:off x="8017932" y="3976614"/>
            <a:ext cx="2074333" cy="660400"/>
          </a:xfrm>
          <a:prstGeom prst="rightArrow">
            <a:avLst>
              <a:gd name="adj1" fmla="val 69298"/>
              <a:gd name="adj2" fmla="val 35088"/>
            </a:avLst>
          </a:prstGeom>
          <a:solidFill>
            <a:schemeClr val="bg1">
              <a:lumMod val="5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2025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2A8CDD8-20EF-4257-B9D1-475BD9DBC5A5}"/>
              </a:ext>
            </a:extLst>
          </p:cNvPr>
          <p:cNvSpPr/>
          <p:nvPr/>
        </p:nvSpPr>
        <p:spPr>
          <a:xfrm>
            <a:off x="6239932" y="3976614"/>
            <a:ext cx="2074333" cy="660400"/>
          </a:xfrm>
          <a:prstGeom prst="rightArrow">
            <a:avLst>
              <a:gd name="adj1" fmla="val 69298"/>
              <a:gd name="adj2" fmla="val 35088"/>
            </a:avLst>
          </a:prstGeom>
          <a:solidFill>
            <a:schemeClr val="bg1">
              <a:lumMod val="6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2024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9AC9BE1-4875-48D3-9576-0D51C5E89C8E}"/>
              </a:ext>
            </a:extLst>
          </p:cNvPr>
          <p:cNvSpPr/>
          <p:nvPr/>
        </p:nvSpPr>
        <p:spPr>
          <a:xfrm>
            <a:off x="4461932" y="3976614"/>
            <a:ext cx="2074333" cy="660400"/>
          </a:xfrm>
          <a:prstGeom prst="rightArrow">
            <a:avLst>
              <a:gd name="adj1" fmla="val 69298"/>
              <a:gd name="adj2" fmla="val 35088"/>
            </a:avLst>
          </a:prstGeom>
          <a:solidFill>
            <a:schemeClr val="bg1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2023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B2D3F03-9097-4499-9F70-94330186F4AB}"/>
              </a:ext>
            </a:extLst>
          </p:cNvPr>
          <p:cNvSpPr/>
          <p:nvPr/>
        </p:nvSpPr>
        <p:spPr>
          <a:xfrm>
            <a:off x="2599264" y="3976614"/>
            <a:ext cx="2074333" cy="660400"/>
          </a:xfrm>
          <a:prstGeom prst="rightArrow">
            <a:avLst>
              <a:gd name="adj1" fmla="val 69298"/>
              <a:gd name="adj2" fmla="val 35088"/>
            </a:avLst>
          </a:prstGeom>
          <a:solidFill>
            <a:schemeClr val="bg1">
              <a:lumMod val="8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2022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6E54B44-4921-492C-ABDC-8C9EEADA7E2F}"/>
              </a:ext>
            </a:extLst>
          </p:cNvPr>
          <p:cNvSpPr/>
          <p:nvPr/>
        </p:nvSpPr>
        <p:spPr>
          <a:xfrm>
            <a:off x="778930" y="3976614"/>
            <a:ext cx="2074333" cy="660400"/>
          </a:xfrm>
          <a:prstGeom prst="rightArrow">
            <a:avLst>
              <a:gd name="adj1" fmla="val 69298"/>
              <a:gd name="adj2" fmla="val 35088"/>
            </a:avLst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2021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BE77655-7838-4338-88F9-03FE39E25618}"/>
              </a:ext>
            </a:extLst>
          </p:cNvPr>
          <p:cNvGrpSpPr/>
          <p:nvPr/>
        </p:nvGrpSpPr>
        <p:grpSpPr>
          <a:xfrm>
            <a:off x="311098" y="1526809"/>
            <a:ext cx="2505003" cy="2129461"/>
            <a:chOff x="2161914" y="1043629"/>
            <a:chExt cx="2505003" cy="212946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A1AF81-7EDB-4D74-A4DB-F5DA2386A15B}"/>
                </a:ext>
              </a:extLst>
            </p:cNvPr>
            <p:cNvSpPr/>
            <p:nvPr/>
          </p:nvSpPr>
          <p:spPr>
            <a:xfrm>
              <a:off x="2161914" y="1050075"/>
              <a:ext cx="1367010" cy="123148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ysClr val="windowText" lastClr="000000"/>
                  </a:solidFill>
                </a:rPr>
                <a:t>2021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Initiation of the idea &amp; technology assessment</a:t>
              </a:r>
              <a:endParaRPr lang="en-US" sz="160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BD68EC8-A03D-4614-84A4-E05E25B0D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61914" y="2346724"/>
              <a:ext cx="2505003" cy="826366"/>
            </a:xfrm>
            <a:prstGeom prst="rect">
              <a:avLst/>
            </a:prstGeom>
          </p:spPr>
        </p:pic>
        <p:pic>
          <p:nvPicPr>
            <p:cNvPr id="13" name="Picture 12" descr="C:\Users\metrik.pradana\Downloads\WhatsApp Image 2021-06-23 at 17.21.21 (1).jpeg">
              <a:extLst>
                <a:ext uri="{FF2B5EF4-FFF2-40B4-BE49-F238E27FC236}">
                  <a16:creationId xmlns:a16="http://schemas.microsoft.com/office/drawing/2014/main" id="{CD5BA767-3AA4-4421-9D38-2F8B66E700E1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0225" y="1043629"/>
              <a:ext cx="850495" cy="12379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7ACD3C5-B52D-4CCB-BBE4-147E46ECD61B}"/>
              </a:ext>
            </a:extLst>
          </p:cNvPr>
          <p:cNvGrpSpPr/>
          <p:nvPr/>
        </p:nvGrpSpPr>
        <p:grpSpPr>
          <a:xfrm>
            <a:off x="431800" y="4885934"/>
            <a:ext cx="3749040" cy="1791995"/>
            <a:chOff x="528320" y="4334485"/>
            <a:chExt cx="3749040" cy="1791995"/>
          </a:xfrm>
        </p:grpSpPr>
        <p:sp>
          <p:nvSpPr>
            <p:cNvPr id="18" name="Speech Bubble: Rectangle 17">
              <a:extLst>
                <a:ext uri="{FF2B5EF4-FFF2-40B4-BE49-F238E27FC236}">
                  <a16:creationId xmlns:a16="http://schemas.microsoft.com/office/drawing/2014/main" id="{20D2C0F0-0839-4E7A-99E7-3938C2F59590}"/>
                </a:ext>
              </a:extLst>
            </p:cNvPr>
            <p:cNvSpPr/>
            <p:nvPr/>
          </p:nvSpPr>
          <p:spPr>
            <a:xfrm>
              <a:off x="528320" y="4334485"/>
              <a:ext cx="3749040" cy="1791995"/>
            </a:xfrm>
            <a:prstGeom prst="wedgeRectCallout">
              <a:avLst>
                <a:gd name="adj1" fmla="val 43090"/>
                <a:gd name="adj2" fmla="val -689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99DBC8E-8862-4073-8781-E851BAA40D26}"/>
                </a:ext>
              </a:extLst>
            </p:cNvPr>
            <p:cNvGrpSpPr/>
            <p:nvPr/>
          </p:nvGrpSpPr>
          <p:grpSpPr>
            <a:xfrm>
              <a:off x="627600" y="4538435"/>
              <a:ext cx="3436400" cy="1486325"/>
              <a:chOff x="569369" y="5135642"/>
              <a:chExt cx="3436400" cy="148632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DBF56FA-FC80-470B-8D45-303FB0D27FE1}"/>
                  </a:ext>
                </a:extLst>
              </p:cNvPr>
              <p:cNvSpPr/>
              <p:nvPr/>
            </p:nvSpPr>
            <p:spPr>
              <a:xfrm>
                <a:off x="2703447" y="5136151"/>
                <a:ext cx="1302322" cy="148581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ysClr val="windowText" lastClr="000000"/>
                    </a:solidFill>
                  </a:rPr>
                  <a:t>2022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Method &amp; tools development done</a:t>
                </a: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C05C0251-9B0B-477F-8BCD-CF12103C41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9369" y="5135642"/>
                <a:ext cx="2040055" cy="1486325"/>
              </a:xfrm>
              <a:prstGeom prst="rect">
                <a:avLst/>
              </a:prstGeom>
            </p:spPr>
          </p:pic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2764B9-CD74-4C90-868D-EA9F8D6BD875}"/>
              </a:ext>
            </a:extLst>
          </p:cNvPr>
          <p:cNvGrpSpPr/>
          <p:nvPr/>
        </p:nvGrpSpPr>
        <p:grpSpPr>
          <a:xfrm>
            <a:off x="3546791" y="918270"/>
            <a:ext cx="3387406" cy="2738000"/>
            <a:chOff x="3322320" y="609600"/>
            <a:chExt cx="3387406" cy="2738000"/>
          </a:xfrm>
        </p:grpSpPr>
        <p:sp>
          <p:nvSpPr>
            <p:cNvPr id="24" name="Speech Bubble: Rectangle 23">
              <a:extLst>
                <a:ext uri="{FF2B5EF4-FFF2-40B4-BE49-F238E27FC236}">
                  <a16:creationId xmlns:a16="http://schemas.microsoft.com/office/drawing/2014/main" id="{5B18BC08-5ED8-4A5C-9C29-BAB3ECFB51CE}"/>
                </a:ext>
              </a:extLst>
            </p:cNvPr>
            <p:cNvSpPr/>
            <p:nvPr/>
          </p:nvSpPr>
          <p:spPr>
            <a:xfrm>
              <a:off x="3322320" y="609600"/>
              <a:ext cx="3387406" cy="2738000"/>
            </a:xfrm>
            <a:prstGeom prst="wedgeRectCallout">
              <a:avLst>
                <a:gd name="adj1" fmla="val 13056"/>
                <a:gd name="adj2" fmla="val 6494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DC65809-59D2-433A-AB32-CBE69AC88E94}"/>
                </a:ext>
              </a:extLst>
            </p:cNvPr>
            <p:cNvSpPr/>
            <p:nvPr/>
          </p:nvSpPr>
          <p:spPr>
            <a:xfrm>
              <a:off x="3437792" y="709692"/>
              <a:ext cx="1437794" cy="130943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ysClr val="windowText" lastClr="000000"/>
                  </a:solidFill>
                </a:rPr>
                <a:t>2023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Field trial &amp; performance monitoring at </a:t>
              </a:r>
              <a:r>
                <a:rPr lang="en-US" sz="1600" dirty="0" err="1">
                  <a:solidFill>
                    <a:schemeClr val="tx1"/>
                  </a:solidFill>
                </a:rPr>
                <a:t>Klamono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8F403B8-CF8C-4525-8F9D-97D69B8FD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04109" y="1971086"/>
              <a:ext cx="2889604" cy="129027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76DCE50-36E5-430A-92E9-1E4086D48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48911" y="771466"/>
              <a:ext cx="1667464" cy="1185886"/>
            </a:xfrm>
            <a:prstGeom prst="rect">
              <a:avLst/>
            </a:prstGeom>
          </p:spPr>
        </p:pic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BEFA6A7C-AE6F-49F0-9C61-2BE6A208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36582"/>
            <a:ext cx="10515600" cy="95108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Futura Book"/>
              </a:rPr>
              <a:t>Highlight 2021-2025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B758519-97EA-4DA2-9826-F10B5C8C73B8}"/>
              </a:ext>
            </a:extLst>
          </p:cNvPr>
          <p:cNvGrpSpPr/>
          <p:nvPr/>
        </p:nvGrpSpPr>
        <p:grpSpPr>
          <a:xfrm>
            <a:off x="4911989" y="4774532"/>
            <a:ext cx="3387406" cy="2006664"/>
            <a:chOff x="6001174" y="4734560"/>
            <a:chExt cx="3387406" cy="2006664"/>
          </a:xfrm>
        </p:grpSpPr>
        <p:sp>
          <p:nvSpPr>
            <p:cNvPr id="37" name="Speech Bubble: Rectangle 36">
              <a:extLst>
                <a:ext uri="{FF2B5EF4-FFF2-40B4-BE49-F238E27FC236}">
                  <a16:creationId xmlns:a16="http://schemas.microsoft.com/office/drawing/2014/main" id="{A224EC24-11BA-4B61-BA01-6A88666E1CB4}"/>
                </a:ext>
              </a:extLst>
            </p:cNvPr>
            <p:cNvSpPr/>
            <p:nvPr/>
          </p:nvSpPr>
          <p:spPr>
            <a:xfrm>
              <a:off x="6001174" y="4734560"/>
              <a:ext cx="3387406" cy="2006664"/>
            </a:xfrm>
            <a:prstGeom prst="wedgeRectCallout">
              <a:avLst>
                <a:gd name="adj1" fmla="val 31652"/>
                <a:gd name="adj2" fmla="val -616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B26BD19-24AC-42B5-8105-0E5F4EE93E7E}"/>
                </a:ext>
              </a:extLst>
            </p:cNvPr>
            <p:cNvGrpSpPr/>
            <p:nvPr/>
          </p:nvGrpSpPr>
          <p:grpSpPr>
            <a:xfrm>
              <a:off x="6096000" y="4831424"/>
              <a:ext cx="3195093" cy="1846505"/>
              <a:chOff x="6421212" y="651947"/>
              <a:chExt cx="3195093" cy="1846505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78C63D34-B81F-4D0B-8FE3-1677E2B29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15752" y="1667703"/>
                <a:ext cx="1586583" cy="830749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8A1AEB42-A8F7-4770-B782-5D62306304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15695" y="1667703"/>
                <a:ext cx="1300610" cy="830749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A2526D7-FC0A-4635-A2CF-6779AC1EC5FC}"/>
                  </a:ext>
                </a:extLst>
              </p:cNvPr>
              <p:cNvSpPr/>
              <p:nvPr/>
            </p:nvSpPr>
            <p:spPr>
              <a:xfrm>
                <a:off x="6421212" y="651947"/>
                <a:ext cx="3195092" cy="98770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ysClr val="windowText" lastClr="000000"/>
                    </a:solidFill>
                  </a:rPr>
                  <a:t>2024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Field trial in wider scale / difference field characteristic</a:t>
                </a:r>
              </a:p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Field </a:t>
                </a:r>
                <a:r>
                  <a:rPr lang="en-US" sz="1600" dirty="0" err="1">
                    <a:solidFill>
                      <a:sysClr val="windowText" lastClr="000000"/>
                    </a:solidFill>
                  </a:rPr>
                  <a:t>Duri</a:t>
                </a:r>
                <a:r>
                  <a:rPr lang="en-US" sz="1600" dirty="0">
                    <a:solidFill>
                      <a:sysClr val="windowText" lastClr="000000"/>
                    </a:solidFill>
                  </a:rPr>
                  <a:t> &amp; Field </a:t>
                </a:r>
                <a:r>
                  <a:rPr lang="en-US" sz="1600" dirty="0" err="1">
                    <a:solidFill>
                      <a:sysClr val="windowText" lastClr="000000"/>
                    </a:solidFill>
                  </a:rPr>
                  <a:t>Klamono</a:t>
                </a:r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DB881F-1F46-49F6-B877-0EF88F12863C}"/>
              </a:ext>
            </a:extLst>
          </p:cNvPr>
          <p:cNvGrpSpPr/>
          <p:nvPr/>
        </p:nvGrpSpPr>
        <p:grpSpPr>
          <a:xfrm>
            <a:off x="7326311" y="918270"/>
            <a:ext cx="2722877" cy="2651760"/>
            <a:chOff x="3322320" y="609600"/>
            <a:chExt cx="3006310" cy="2738000"/>
          </a:xfrm>
        </p:grpSpPr>
        <p:sp>
          <p:nvSpPr>
            <p:cNvPr id="40" name="Speech Bubble: Rectangle 39">
              <a:extLst>
                <a:ext uri="{FF2B5EF4-FFF2-40B4-BE49-F238E27FC236}">
                  <a16:creationId xmlns:a16="http://schemas.microsoft.com/office/drawing/2014/main" id="{20690B97-D148-4DA8-B6CE-E24897A34927}"/>
                </a:ext>
              </a:extLst>
            </p:cNvPr>
            <p:cNvSpPr/>
            <p:nvPr/>
          </p:nvSpPr>
          <p:spPr>
            <a:xfrm>
              <a:off x="3322320" y="609600"/>
              <a:ext cx="3006310" cy="2738000"/>
            </a:xfrm>
            <a:prstGeom prst="wedgeRectCallout">
              <a:avLst>
                <a:gd name="adj1" fmla="val 13181"/>
                <a:gd name="adj2" fmla="val 69159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7E4D97D-D064-4F1A-9874-CB7AB026091E}"/>
                </a:ext>
              </a:extLst>
            </p:cNvPr>
            <p:cNvSpPr/>
            <p:nvPr/>
          </p:nvSpPr>
          <p:spPr>
            <a:xfrm>
              <a:off x="3389333" y="755415"/>
              <a:ext cx="2814857" cy="8690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ysClr val="windowText" lastClr="000000"/>
                  </a:solidFill>
                </a:rPr>
                <a:t>2025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Subsurface data monitoring &amp; field trial evaluation</a:t>
              </a:r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E355BBB8-A891-4D65-8A78-6D3EECF867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3324" y="1991669"/>
            <a:ext cx="1286701" cy="1437331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6692D75-6A68-419B-8D23-13CDBA848BD3}"/>
              </a:ext>
            </a:extLst>
          </p:cNvPr>
          <p:cNvGrpSpPr/>
          <p:nvPr/>
        </p:nvGrpSpPr>
        <p:grpSpPr>
          <a:xfrm>
            <a:off x="9304293" y="4856565"/>
            <a:ext cx="2417129" cy="1924631"/>
            <a:chOff x="3322320" y="609600"/>
            <a:chExt cx="2668736" cy="2738000"/>
          </a:xfrm>
        </p:grpSpPr>
        <p:sp>
          <p:nvSpPr>
            <p:cNvPr id="47" name="Speech Bubble: Rectangle 46">
              <a:extLst>
                <a:ext uri="{FF2B5EF4-FFF2-40B4-BE49-F238E27FC236}">
                  <a16:creationId xmlns:a16="http://schemas.microsoft.com/office/drawing/2014/main" id="{AF373E6F-79EA-4512-8180-E19ADD02DD74}"/>
                </a:ext>
              </a:extLst>
            </p:cNvPr>
            <p:cNvSpPr/>
            <p:nvPr/>
          </p:nvSpPr>
          <p:spPr>
            <a:xfrm>
              <a:off x="3322320" y="609600"/>
              <a:ext cx="2668736" cy="2738000"/>
            </a:xfrm>
            <a:prstGeom prst="wedgeRectCallout">
              <a:avLst>
                <a:gd name="adj1" fmla="val 13601"/>
                <a:gd name="adj2" fmla="val -65982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2607E5E-9FF8-4359-9253-FE10D38EEB02}"/>
                </a:ext>
              </a:extLst>
            </p:cNvPr>
            <p:cNvSpPr/>
            <p:nvPr/>
          </p:nvSpPr>
          <p:spPr>
            <a:xfrm>
              <a:off x="3389333" y="755413"/>
              <a:ext cx="2489546" cy="119420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ysClr val="windowText" lastClr="000000"/>
                  </a:solidFill>
                </a:rPr>
                <a:t>2026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Laboratories analysis &amp; simulation.</a:t>
              </a:r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E110008A-5B9C-4ED7-803A-0854126966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5865" y="5777864"/>
            <a:ext cx="2353983" cy="86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335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2625"/>
            <a:ext cx="10515600" cy="951089"/>
          </a:xfrm>
        </p:spPr>
        <p:txBody>
          <a:bodyPr/>
          <a:lstStyle/>
          <a:p>
            <a:r>
              <a:rPr lang="en-US" b="1">
                <a:latin typeface="Futura Book"/>
              </a:rPr>
              <a:t>Poin </a:t>
            </a:r>
            <a:r>
              <a:rPr lang="en-US" b="1" dirty="0" err="1">
                <a:latin typeface="Futura Book"/>
              </a:rPr>
              <a:t>Inovasi</a:t>
            </a:r>
            <a:endParaRPr lang="en-US" b="1" dirty="0">
              <a:latin typeface="Futura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D37BF-18A9-43D2-86FB-901E658A36B8}"/>
              </a:ext>
            </a:extLst>
          </p:cNvPr>
          <p:cNvSpPr/>
          <p:nvPr/>
        </p:nvSpPr>
        <p:spPr>
          <a:xfrm>
            <a:off x="0" y="6262048"/>
            <a:ext cx="12192001" cy="595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5758">
              <a:defRPr/>
            </a:pPr>
            <a:endParaRPr lang="en-US" sz="1567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2DD8E-9EF0-42F3-82FC-828ACBDFB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9795" y="-412595"/>
            <a:ext cx="3334213" cy="15388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C0911F-2D81-44B9-B657-63993BFA25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2997"/>
            <a:ext cx="1572544" cy="715003"/>
          </a:xfrm>
          <a:prstGeom prst="rect">
            <a:avLst/>
          </a:prstGeom>
        </p:spPr>
      </p:pic>
      <p:pic>
        <p:nvPicPr>
          <p:cNvPr id="8" name="Graphic 12">
            <a:extLst>
              <a:ext uri="{FF2B5EF4-FFF2-40B4-BE49-F238E27FC236}">
                <a16:creationId xmlns:a16="http://schemas.microsoft.com/office/drawing/2014/main" id="{7CB2DD97-CEE8-474E-89D4-CDB477C548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53365" y="6348730"/>
            <a:ext cx="410076" cy="402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7555936-F576-4A22-8F12-C2A5DD31BC3B}"/>
              </a:ext>
            </a:extLst>
          </p:cNvPr>
          <p:cNvSpPr/>
          <p:nvPr/>
        </p:nvSpPr>
        <p:spPr>
          <a:xfrm>
            <a:off x="0" y="1902261"/>
            <a:ext cx="619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uji </a:t>
            </a:r>
            <a:r>
              <a:rPr lang="en-US" dirty="0" err="1"/>
              <a:t>coba</a:t>
            </a:r>
            <a:r>
              <a:rPr lang="en-US" dirty="0"/>
              <a:t> lap. </a:t>
            </a:r>
            <a:r>
              <a:rPr lang="en-US" dirty="0" err="1"/>
              <a:t>Duri</a:t>
            </a:r>
            <a:r>
              <a:rPr lang="en-US" dirty="0"/>
              <a:t> dan </a:t>
            </a:r>
            <a:r>
              <a:rPr lang="en-US" dirty="0" err="1"/>
              <a:t>Klamono</a:t>
            </a:r>
            <a:r>
              <a:rPr lang="en-US" dirty="0"/>
              <a:t>  </a:t>
            </a:r>
            <a:r>
              <a:rPr lang="en-US" dirty="0" err="1"/>
              <a:t>teknologi</a:t>
            </a:r>
            <a:r>
              <a:rPr lang="en-US" dirty="0"/>
              <a:t> E-EOR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subsurface dan surface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Melakukan </a:t>
            </a:r>
            <a:r>
              <a:rPr lang="en-US" dirty="0" err="1">
                <a:solidFill>
                  <a:srgbClr val="0070C0"/>
                </a:solidFill>
              </a:rPr>
              <a:t>analisa</a:t>
            </a:r>
            <a:r>
              <a:rPr lang="en-US" dirty="0">
                <a:solidFill>
                  <a:srgbClr val="0070C0"/>
                </a:solidFill>
              </a:rPr>
              <a:t> dan </a:t>
            </a:r>
            <a:r>
              <a:rPr lang="en-US" dirty="0" err="1">
                <a:solidFill>
                  <a:srgbClr val="0070C0"/>
                </a:solidFill>
              </a:rPr>
              <a:t>simulasi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laboratorium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limitasi</a:t>
            </a:r>
            <a:r>
              <a:rPr lang="en-US" dirty="0"/>
              <a:t> dan parameter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E-EOR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Melanjutkan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peralatan</a:t>
            </a:r>
            <a:r>
              <a:rPr lang="en-US" dirty="0"/>
              <a:t> E-EOR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70C0"/>
                </a:solidFill>
              </a:rPr>
              <a:t>Alih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teknologi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metode</a:t>
            </a:r>
            <a:r>
              <a:rPr lang="en-US" dirty="0"/>
              <a:t> E-EOR </a:t>
            </a:r>
            <a:r>
              <a:rPr lang="en-US" dirty="0" err="1"/>
              <a:t>ke</a:t>
            </a:r>
            <a:r>
              <a:rPr lang="en-US" dirty="0"/>
              <a:t> zona</a:t>
            </a: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1B53CE8C-4F48-434E-A73E-1895808BB0F5}"/>
              </a:ext>
            </a:extLst>
          </p:cNvPr>
          <p:cNvSpPr/>
          <p:nvPr/>
        </p:nvSpPr>
        <p:spPr>
          <a:xfrm>
            <a:off x="436880" y="1447286"/>
            <a:ext cx="3022600" cy="452895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Key Innovation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6625150F-FD9D-4B69-8272-7C5DBEB61121}"/>
              </a:ext>
            </a:extLst>
          </p:cNvPr>
          <p:cNvSpPr/>
          <p:nvPr/>
        </p:nvSpPr>
        <p:spPr>
          <a:xfrm>
            <a:off x="436880" y="4649360"/>
            <a:ext cx="3335533" cy="452895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Key Deliverables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09A1AD-B20D-463D-8A41-4FD7718CE43F}"/>
              </a:ext>
            </a:extLst>
          </p:cNvPr>
          <p:cNvSpPr/>
          <p:nvPr/>
        </p:nvSpPr>
        <p:spPr>
          <a:xfrm>
            <a:off x="0" y="5102255"/>
            <a:ext cx="619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70C0"/>
                </a:solidFill>
              </a:rPr>
              <a:t>Metode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implementasi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dan parameter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E-EOR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 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7C2B4BB3-A0DB-4C78-B601-15D046D1DF5B}"/>
              </a:ext>
            </a:extLst>
          </p:cNvPr>
          <p:cNvSpPr/>
          <p:nvPr/>
        </p:nvSpPr>
        <p:spPr>
          <a:xfrm>
            <a:off x="7376045" y="1447490"/>
            <a:ext cx="3335533" cy="452895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Added Value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19F56-29C7-41AB-AF7B-EFDA8923E58D}"/>
              </a:ext>
            </a:extLst>
          </p:cNvPr>
          <p:cNvSpPr/>
          <p:nvPr/>
        </p:nvSpPr>
        <p:spPr>
          <a:xfrm>
            <a:off x="6776720" y="1909787"/>
            <a:ext cx="5191760" cy="378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panduan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E-EOR di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lapangan</a:t>
            </a:r>
            <a:r>
              <a:rPr lang="en-US" dirty="0"/>
              <a:t>,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teknis</a:t>
            </a:r>
            <a:r>
              <a:rPr lang="en-US" dirty="0"/>
              <a:t> </a:t>
            </a:r>
            <a:r>
              <a:rPr lang="en-US" dirty="0" err="1"/>
              <a:t>installasi</a:t>
            </a:r>
            <a:r>
              <a:rPr lang="en-US" dirty="0"/>
              <a:t> dan </a:t>
            </a:r>
            <a:r>
              <a:rPr lang="en-US" dirty="0" err="1"/>
              <a:t>operasi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Memiliki</a:t>
            </a:r>
            <a:r>
              <a:rPr lang="en-US" dirty="0"/>
              <a:t> data-data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E-EOR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lanjut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(zona </a:t>
            </a:r>
            <a:r>
              <a:rPr lang="en-US" dirty="0" err="1"/>
              <a:t>terkait</a:t>
            </a:r>
            <a:r>
              <a:rPr lang="en-US" dirty="0"/>
              <a:t>) </a:t>
            </a:r>
            <a:r>
              <a:rPr lang="en-US" dirty="0" err="1">
                <a:solidFill>
                  <a:srgbClr val="0070C0"/>
                </a:solidFill>
              </a:rPr>
              <a:t>secara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mandiri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mampu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mengimplementasikan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metode</a:t>
            </a:r>
            <a:r>
              <a:rPr lang="en-US" dirty="0">
                <a:solidFill>
                  <a:srgbClr val="0070C0"/>
                </a:solidFill>
              </a:rPr>
              <a:t> E-EOR </a:t>
            </a:r>
            <a:r>
              <a:rPr lang="en-US" dirty="0"/>
              <a:t>di </a:t>
            </a:r>
            <a:r>
              <a:rPr lang="en-US" dirty="0" err="1"/>
              <a:t>lapangan</a:t>
            </a:r>
            <a:r>
              <a:rPr lang="en-US" dirty="0"/>
              <a:t>. UI </a:t>
            </a:r>
            <a:r>
              <a:rPr lang="en-US" dirty="0" err="1"/>
              <a:t>bersama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Zona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bersama-sama</a:t>
            </a:r>
            <a:r>
              <a:rPr lang="en-US" dirty="0"/>
              <a:t> </a:t>
            </a:r>
            <a:r>
              <a:rPr lang="en-US" dirty="0" err="1"/>
              <a:t>mengembangkan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E-EOR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C67BED-EEA2-4F6A-B002-43EC271208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174" y="6451989"/>
            <a:ext cx="1689652" cy="21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74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626" y="11633"/>
            <a:ext cx="10515600" cy="951089"/>
          </a:xfrm>
        </p:spPr>
        <p:txBody>
          <a:bodyPr/>
          <a:lstStyle/>
          <a:p>
            <a:r>
              <a:rPr lang="en-US" b="1" dirty="0" err="1">
                <a:latin typeface="Futura Book"/>
              </a:rPr>
              <a:t>Metodologi</a:t>
            </a:r>
            <a:r>
              <a:rPr lang="en-US" b="1" dirty="0">
                <a:latin typeface="Futura Book"/>
              </a:rPr>
              <a:t> (</a:t>
            </a:r>
            <a:r>
              <a:rPr lang="en-US" b="1" dirty="0" err="1">
                <a:latin typeface="Futura Book"/>
              </a:rPr>
              <a:t>tahun</a:t>
            </a:r>
            <a:r>
              <a:rPr lang="en-US" b="1" dirty="0">
                <a:latin typeface="Futura Book"/>
              </a:rPr>
              <a:t> 2026)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D37BF-18A9-43D2-86FB-901E658A36B8}"/>
              </a:ext>
            </a:extLst>
          </p:cNvPr>
          <p:cNvSpPr/>
          <p:nvPr/>
        </p:nvSpPr>
        <p:spPr>
          <a:xfrm>
            <a:off x="0" y="6262048"/>
            <a:ext cx="12192001" cy="595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5758">
              <a:defRPr/>
            </a:pPr>
            <a:endParaRPr lang="en-US" sz="1567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2DD8E-9EF0-42F3-82FC-828ACBDFB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9795" y="-412595"/>
            <a:ext cx="3334213" cy="15388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C0911F-2D81-44B9-B657-63993BFA25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2997"/>
            <a:ext cx="1572544" cy="71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CCED95-9CC1-4715-A5CF-A51416458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174" y="6451989"/>
            <a:ext cx="1689652" cy="216070"/>
          </a:xfrm>
          <a:prstGeom prst="rect">
            <a:avLst/>
          </a:prstGeom>
        </p:spPr>
      </p:pic>
      <p:pic>
        <p:nvPicPr>
          <p:cNvPr id="8" name="Graphic 12">
            <a:extLst>
              <a:ext uri="{FF2B5EF4-FFF2-40B4-BE49-F238E27FC236}">
                <a16:creationId xmlns:a16="http://schemas.microsoft.com/office/drawing/2014/main" id="{7CB2DD97-CEE8-474E-89D4-CDB477C548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3365" y="6348730"/>
            <a:ext cx="410076" cy="402912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4CE2C11-E65D-4761-9FEC-76826717B9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2785264"/>
              </p:ext>
            </p:extLst>
          </p:nvPr>
        </p:nvGraphicFramePr>
        <p:xfrm>
          <a:off x="999766" y="1266599"/>
          <a:ext cx="3332498" cy="44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EBE5FE43-47DC-4126-AC9F-ED5BAB698863}"/>
              </a:ext>
            </a:extLst>
          </p:cNvPr>
          <p:cNvSpPr/>
          <p:nvPr/>
        </p:nvSpPr>
        <p:spPr>
          <a:xfrm>
            <a:off x="4124073" y="1238746"/>
            <a:ext cx="71807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Evaluasi</a:t>
            </a:r>
            <a:r>
              <a:rPr lang="en-US" sz="2000" dirty="0"/>
              <a:t> </a:t>
            </a:r>
            <a:r>
              <a:rPr lang="en-US" sz="2000" dirty="0" err="1"/>
              <a:t>hasil</a:t>
            </a:r>
            <a:r>
              <a:rPr lang="en-US" sz="2000" dirty="0"/>
              <a:t> field trial </a:t>
            </a:r>
            <a:r>
              <a:rPr lang="en-US" sz="2000" dirty="0" err="1"/>
              <a:t>lapangan</a:t>
            </a:r>
            <a:r>
              <a:rPr lang="en-US" sz="2000" dirty="0"/>
              <a:t> </a:t>
            </a:r>
            <a:r>
              <a:rPr lang="en-US" sz="2000" dirty="0" err="1"/>
              <a:t>Duri</a:t>
            </a:r>
            <a:r>
              <a:rPr lang="en-US" sz="2000" dirty="0"/>
              <a:t> dan </a:t>
            </a:r>
            <a:r>
              <a:rPr lang="en-US" sz="2000" dirty="0" err="1"/>
              <a:t>Klamono</a:t>
            </a:r>
            <a:r>
              <a:rPr lang="en-US" sz="2000" dirty="0"/>
              <a:t>, </a:t>
            </a:r>
            <a:r>
              <a:rPr lang="en-US" sz="2000" dirty="0" err="1"/>
              <a:t>metode</a:t>
            </a:r>
            <a:r>
              <a:rPr lang="en-US" sz="2000" dirty="0"/>
              <a:t> dan </a:t>
            </a:r>
            <a:r>
              <a:rPr lang="en-US" sz="2000" dirty="0" err="1"/>
              <a:t>peralatan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Evaluasi</a:t>
            </a:r>
            <a:r>
              <a:rPr lang="en-US" sz="2000" dirty="0"/>
              <a:t> </a:t>
            </a:r>
            <a:r>
              <a:rPr lang="en-US" sz="2000" dirty="0" err="1"/>
              <a:t>hasil</a:t>
            </a:r>
            <a:r>
              <a:rPr lang="en-US" sz="2000" dirty="0"/>
              <a:t> subsurface data acquisition (SP-ERT, </a:t>
            </a:r>
            <a:r>
              <a:rPr lang="en-US" sz="2000" dirty="0" err="1"/>
              <a:t>timelapse</a:t>
            </a:r>
            <a:r>
              <a:rPr lang="en-US" sz="2000" dirty="0"/>
              <a:t> LFPS, dan </a:t>
            </a:r>
            <a:r>
              <a:rPr lang="en-US" sz="2000" dirty="0" err="1"/>
              <a:t>Pertabocsy</a:t>
            </a:r>
            <a:r>
              <a:rPr lang="en-US" sz="2000" dirty="0"/>
              <a:t>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ECDCFF-1A0F-4D83-859C-4F4B50789386}"/>
              </a:ext>
            </a:extLst>
          </p:cNvPr>
          <p:cNvSpPr/>
          <p:nvPr/>
        </p:nvSpPr>
        <p:spPr>
          <a:xfrm>
            <a:off x="4124074" y="2888236"/>
            <a:ext cx="752929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Pembuatan</a:t>
            </a:r>
            <a:r>
              <a:rPr lang="en-US" sz="2000" dirty="0"/>
              <a:t> </a:t>
            </a:r>
            <a:r>
              <a:rPr lang="en-US" sz="2000" dirty="0" err="1"/>
              <a:t>prototipe</a:t>
            </a:r>
            <a:r>
              <a:rPr lang="en-US" sz="2000" dirty="0"/>
              <a:t> </a:t>
            </a:r>
            <a:r>
              <a:rPr lang="en-US" sz="2000" dirty="0" err="1"/>
              <a:t>peralatan</a:t>
            </a:r>
            <a:r>
              <a:rPr lang="en-US" sz="2000" dirty="0"/>
              <a:t> uji </a:t>
            </a:r>
            <a:r>
              <a:rPr lang="en-US" sz="2000" dirty="0" err="1"/>
              <a:t>laboratorium</a:t>
            </a:r>
            <a:r>
              <a:rPr lang="en-US" sz="2000" dirty="0"/>
              <a:t>, </a:t>
            </a:r>
            <a:r>
              <a:rPr lang="en-US" sz="2000" dirty="0" err="1"/>
              <a:t>persiapan</a:t>
            </a:r>
            <a:r>
              <a:rPr lang="en-US" sz="2000" dirty="0"/>
              <a:t> dan </a:t>
            </a:r>
            <a:r>
              <a:rPr lang="en-US" sz="2000" dirty="0" err="1"/>
              <a:t>pengadaan</a:t>
            </a:r>
            <a:r>
              <a:rPr lang="en-US" sz="2000" dirty="0"/>
              <a:t> sample uji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Pelaksanaan</a:t>
            </a:r>
            <a:r>
              <a:rPr lang="en-US" sz="2000" dirty="0"/>
              <a:t> </a:t>
            </a:r>
            <a:r>
              <a:rPr lang="en-US" sz="2000" dirty="0" err="1"/>
              <a:t>pengujian</a:t>
            </a:r>
            <a:r>
              <a:rPr lang="en-US" sz="2000" dirty="0"/>
              <a:t> </a:t>
            </a:r>
            <a:r>
              <a:rPr lang="en-US" sz="2000" dirty="0" err="1"/>
              <a:t>laboratorium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Pengembangan</a:t>
            </a:r>
            <a:r>
              <a:rPr lang="en-US" sz="2000" dirty="0"/>
              <a:t> </a:t>
            </a:r>
            <a:r>
              <a:rPr lang="en-US" sz="2000" dirty="0" err="1"/>
              <a:t>peralatan</a:t>
            </a:r>
            <a:r>
              <a:rPr lang="en-US" sz="2000" dirty="0"/>
              <a:t> E-EOR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0D10B0-AB9C-4256-8D61-8A0F78447B4B}"/>
              </a:ext>
            </a:extLst>
          </p:cNvPr>
          <p:cNvSpPr/>
          <p:nvPr/>
        </p:nvSpPr>
        <p:spPr>
          <a:xfrm>
            <a:off x="4124073" y="4779969"/>
            <a:ext cx="732517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evaluasi</a:t>
            </a:r>
            <a:r>
              <a:rPr lang="en-US" sz="2000" dirty="0"/>
              <a:t> </a:t>
            </a:r>
            <a:r>
              <a:rPr lang="en-US" sz="2000" dirty="0" err="1"/>
              <a:t>hasil</a:t>
            </a:r>
            <a:r>
              <a:rPr lang="en-US" sz="2000" dirty="0"/>
              <a:t> </a:t>
            </a:r>
            <a:r>
              <a:rPr lang="en-US" sz="2000" dirty="0" err="1"/>
              <a:t>analisa</a:t>
            </a:r>
            <a:r>
              <a:rPr lang="en-US" sz="2000" dirty="0"/>
              <a:t> </a:t>
            </a:r>
            <a:r>
              <a:rPr lang="en-US" sz="2000" dirty="0" err="1"/>
              <a:t>laboratorium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Melakukan</a:t>
            </a:r>
            <a:r>
              <a:rPr lang="en-US" sz="2000" dirty="0"/>
              <a:t> FGD </a:t>
            </a:r>
            <a:r>
              <a:rPr lang="en-US" sz="2000" dirty="0" err="1"/>
              <a:t>dengan</a:t>
            </a:r>
            <a:r>
              <a:rPr lang="en-US" sz="2000" dirty="0"/>
              <a:t> user (PHR dan Zona14)</a:t>
            </a:r>
          </a:p>
        </p:txBody>
      </p:sp>
    </p:spTree>
    <p:extLst>
      <p:ext uri="{BB962C8B-B14F-4D97-AF65-F5344CB8AC3E}">
        <p14:creationId xmlns:p14="http://schemas.microsoft.com/office/powerpoint/2010/main" val="4013920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2625"/>
            <a:ext cx="10515600" cy="951089"/>
          </a:xfrm>
        </p:spPr>
        <p:txBody>
          <a:bodyPr/>
          <a:lstStyle/>
          <a:p>
            <a:r>
              <a:rPr lang="en-US" b="1" dirty="0" err="1">
                <a:latin typeface="Futura Book"/>
              </a:rPr>
              <a:t>Rencana</a:t>
            </a:r>
            <a:r>
              <a:rPr lang="en-US" b="1" dirty="0">
                <a:latin typeface="Futura Book"/>
              </a:rPr>
              <a:t> </a:t>
            </a:r>
            <a:r>
              <a:rPr lang="en-US" b="1" dirty="0" err="1">
                <a:latin typeface="Futura Book"/>
              </a:rPr>
              <a:t>Pelaksanaan</a:t>
            </a:r>
            <a:r>
              <a:rPr lang="en-US" b="1" dirty="0">
                <a:latin typeface="Futura Book"/>
              </a:rPr>
              <a:t> </a:t>
            </a:r>
            <a:r>
              <a:rPr lang="en-US" b="1" dirty="0" err="1">
                <a:latin typeface="Futura Book"/>
              </a:rPr>
              <a:t>Inovasi</a:t>
            </a:r>
            <a:endParaRPr lang="en-US" b="1" dirty="0">
              <a:latin typeface="Futura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D37BF-18A9-43D2-86FB-901E658A36B8}"/>
              </a:ext>
            </a:extLst>
          </p:cNvPr>
          <p:cNvSpPr/>
          <p:nvPr/>
        </p:nvSpPr>
        <p:spPr>
          <a:xfrm>
            <a:off x="0" y="6262048"/>
            <a:ext cx="12192001" cy="595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5758">
              <a:defRPr/>
            </a:pPr>
            <a:endParaRPr lang="en-US" sz="1567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2DD8E-9EF0-42F3-82FC-828ACBDFB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9795" y="-412595"/>
            <a:ext cx="3334213" cy="15388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C0911F-2D81-44B9-B657-63993BFA25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2997"/>
            <a:ext cx="1572544" cy="71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CCED95-9CC1-4715-A5CF-A51416458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174" y="6451989"/>
            <a:ext cx="1689652" cy="216070"/>
          </a:xfrm>
          <a:prstGeom prst="rect">
            <a:avLst/>
          </a:prstGeom>
        </p:spPr>
      </p:pic>
      <p:pic>
        <p:nvPicPr>
          <p:cNvPr id="8" name="Graphic 12">
            <a:extLst>
              <a:ext uri="{FF2B5EF4-FFF2-40B4-BE49-F238E27FC236}">
                <a16:creationId xmlns:a16="http://schemas.microsoft.com/office/drawing/2014/main" id="{7CB2DD97-CEE8-474E-89D4-CDB477C548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3365" y="6348730"/>
            <a:ext cx="410076" cy="402912"/>
          </a:xfrm>
          <a:prstGeom prst="rect">
            <a:avLst/>
          </a:prstGeom>
        </p:spPr>
      </p:pic>
      <p:sp>
        <p:nvSpPr>
          <p:cNvPr id="10" name="Hexagon 9">
            <a:extLst>
              <a:ext uri="{FF2B5EF4-FFF2-40B4-BE49-F238E27FC236}">
                <a16:creationId xmlns:a16="http://schemas.microsoft.com/office/drawing/2014/main" id="{6CB9FB0C-17B2-44ED-A200-41FEA5EEF6A6}"/>
              </a:ext>
            </a:extLst>
          </p:cNvPr>
          <p:cNvSpPr/>
          <p:nvPr/>
        </p:nvSpPr>
        <p:spPr>
          <a:xfrm>
            <a:off x="403993" y="1265308"/>
            <a:ext cx="2359527" cy="452895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S-Curve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432092A2-3A31-4CE8-8FF4-92F53210B248}"/>
              </a:ext>
            </a:extLst>
          </p:cNvPr>
          <p:cNvSpPr/>
          <p:nvPr/>
        </p:nvSpPr>
        <p:spPr>
          <a:xfrm>
            <a:off x="403993" y="4347144"/>
            <a:ext cx="2810845" cy="452895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Cost Estimate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64F450B9-3BFF-43F8-9D2B-2EC08D6084F7}"/>
              </a:ext>
            </a:extLst>
          </p:cNvPr>
          <p:cNvSpPr/>
          <p:nvPr/>
        </p:nvSpPr>
        <p:spPr>
          <a:xfrm>
            <a:off x="6275401" y="4347143"/>
            <a:ext cx="3292108" cy="452895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</a:rPr>
              <a:t>Lokasi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Pekerjaan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CA4777-8CA2-447D-B290-51A16EA131B9}"/>
              </a:ext>
            </a:extLst>
          </p:cNvPr>
          <p:cNvSpPr/>
          <p:nvPr/>
        </p:nvSpPr>
        <p:spPr>
          <a:xfrm>
            <a:off x="6118993" y="4832251"/>
            <a:ext cx="54227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Lapangan Klamono, Lapangan Duri, </a:t>
            </a:r>
            <a:r>
              <a:rPr lang="en-US" sz="2000" dirty="0" err="1"/>
              <a:t>Bentayan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Laboratorium</a:t>
            </a:r>
            <a:r>
              <a:rPr lang="en-US" sz="2000" dirty="0"/>
              <a:t> </a:t>
            </a:r>
            <a:r>
              <a:rPr lang="en-US" sz="2000" dirty="0" err="1"/>
              <a:t>pihak</a:t>
            </a:r>
            <a:r>
              <a:rPr lang="en-US" sz="2000" dirty="0"/>
              <a:t> ke-3 (UGM,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lainnya</a:t>
            </a:r>
            <a:r>
              <a:rPr lang="en-US" sz="2000" dirty="0"/>
              <a:t>..)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480F06-12C2-4475-A7F7-2C03674D4B08}"/>
              </a:ext>
            </a:extLst>
          </p:cNvPr>
          <p:cNvSpPr/>
          <p:nvPr/>
        </p:nvSpPr>
        <p:spPr>
          <a:xfrm>
            <a:off x="8930654" y="1531981"/>
            <a:ext cx="28573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Personel</a:t>
            </a:r>
            <a:r>
              <a:rPr lang="en-US" sz="1600" b="1" dirty="0"/>
              <a:t> :</a:t>
            </a:r>
          </a:p>
          <a:p>
            <a:r>
              <a:rPr lang="en-US" sz="1600" dirty="0"/>
              <a:t>Suryo Adi P (PIC)</a:t>
            </a:r>
          </a:p>
          <a:p>
            <a:r>
              <a:rPr lang="en-US" sz="1600" dirty="0"/>
              <a:t>Metrik Kresna P (Member)</a:t>
            </a:r>
          </a:p>
          <a:p>
            <a:r>
              <a:rPr lang="en-US" sz="1600" dirty="0"/>
              <a:t>Tunggal P (Team Member)</a:t>
            </a:r>
          </a:p>
          <a:p>
            <a:r>
              <a:rPr lang="en-US" sz="1600" dirty="0"/>
              <a:t>Didik Setyawan</a:t>
            </a:r>
          </a:p>
          <a:p>
            <a:r>
              <a:rPr lang="en-US" sz="1600" dirty="0" err="1"/>
              <a:t>Fathkul</a:t>
            </a:r>
            <a:r>
              <a:rPr lang="en-US" sz="1600" dirty="0"/>
              <a:t> Mu’in (Team Support)</a:t>
            </a:r>
          </a:p>
          <a:p>
            <a:r>
              <a:rPr lang="en-US" sz="1600" dirty="0"/>
              <a:t>UGM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05638-E283-440A-9563-974AA7C5E9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9770" y="986677"/>
            <a:ext cx="5524433" cy="32345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2F63F9A-F0A0-4050-9CC7-F58E787AB93F}"/>
              </a:ext>
            </a:extLst>
          </p:cNvPr>
          <p:cNvSpPr/>
          <p:nvPr/>
        </p:nvSpPr>
        <p:spPr>
          <a:xfrm>
            <a:off x="251096" y="1824369"/>
            <a:ext cx="56168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7 Bulan</a:t>
            </a:r>
          </a:p>
        </p:txBody>
      </p:sp>
    </p:spTree>
    <p:extLst>
      <p:ext uri="{BB962C8B-B14F-4D97-AF65-F5344CB8AC3E}">
        <p14:creationId xmlns:p14="http://schemas.microsoft.com/office/powerpoint/2010/main" val="255798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538D-E627-497C-A391-F1C141D7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63340-6F76-4ED6-85F4-6EEF2EED9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25EF1F-5381-448A-AB7A-36B1CC9AA1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893"/>
          <a:stretch/>
        </p:blipFill>
        <p:spPr>
          <a:xfrm>
            <a:off x="545063" y="110987"/>
            <a:ext cx="11101874" cy="663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95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6E4FCA-0FD6-4FD3-9E6A-26411F596B91}"/>
              </a:ext>
            </a:extLst>
          </p:cNvPr>
          <p:cNvSpPr/>
          <p:nvPr/>
        </p:nvSpPr>
        <p:spPr>
          <a:xfrm>
            <a:off x="8371990" y="1282450"/>
            <a:ext cx="353407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It always seems impossible until it’s done…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0F2DC2-578E-497A-882F-C213123439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31" b="14868"/>
          <a:stretch/>
        </p:blipFill>
        <p:spPr>
          <a:xfrm>
            <a:off x="346072" y="922128"/>
            <a:ext cx="7642657" cy="5013744"/>
          </a:xfrm>
          <a:prstGeom prst="round2DiagRect">
            <a:avLst>
              <a:gd name="adj1" fmla="val 38666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74927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2323DA4-80DE-4FA2-8D63-1AE9740B8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813" y="1821452"/>
            <a:ext cx="2116363" cy="37568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31D2D4-1AD8-4FB9-A42E-16AF5A2DD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444" y="5797937"/>
            <a:ext cx="4133103" cy="4738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04D163-8240-4C93-A942-E6E8DB87CDE5}"/>
              </a:ext>
            </a:extLst>
          </p:cNvPr>
          <p:cNvSpPr txBox="1"/>
          <p:nvPr/>
        </p:nvSpPr>
        <p:spPr>
          <a:xfrm>
            <a:off x="3319456" y="586203"/>
            <a:ext cx="5553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>
                <a:latin typeface="Futura Book" panose="02020800000000000000" pitchFamily="18" charset="0"/>
                <a:ea typeface="Futura Book" panose="02020800000000000000" pitchFamily="18" charset="0"/>
                <a:cs typeface="Futura Book" panose="02020800000000000000" pitchFamily="18" charset="0"/>
              </a:rPr>
              <a:t>Terima</a:t>
            </a:r>
            <a:r>
              <a:rPr lang="en-US" sz="6000" dirty="0">
                <a:latin typeface="Futura Book" panose="02020800000000000000" pitchFamily="18" charset="0"/>
                <a:ea typeface="Futura Book" panose="02020800000000000000" pitchFamily="18" charset="0"/>
                <a:cs typeface="Futura Book" panose="02020800000000000000" pitchFamily="18" charset="0"/>
              </a:rPr>
              <a:t> Kasih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3C3B2A-B295-4794-8016-710F5D7ECE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2997"/>
            <a:ext cx="1572544" cy="715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74086F-CEBF-9F4A-B223-E368A389EA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9795" y="-412595"/>
            <a:ext cx="3334213" cy="153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630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22FD66-0500-4864-960B-FE27C525D97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03855" y="1763713"/>
            <a:ext cx="4156075" cy="4133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E47BCE-2E7F-4588-BBF6-8836E4D58DF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90963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Monitoring</a:t>
            </a:r>
            <a:br>
              <a:rPr lang="en-US" dirty="0"/>
            </a:br>
            <a:r>
              <a:rPr lang="en-US" dirty="0"/>
              <a:t>Well Production Performance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9576F5-0446-441E-BA89-F966825024BF}"/>
              </a:ext>
            </a:extLst>
          </p:cNvPr>
          <p:cNvSpPr/>
          <p:nvPr/>
        </p:nvSpPr>
        <p:spPr>
          <a:xfrm rot="6554955">
            <a:off x="1746356" y="4573365"/>
            <a:ext cx="532738" cy="1057713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1F6A5AB-66FC-4F6D-A216-EB9683B21810}"/>
              </a:ext>
            </a:extLst>
          </p:cNvPr>
          <p:cNvSpPr/>
          <p:nvPr/>
        </p:nvSpPr>
        <p:spPr>
          <a:xfrm rot="2711435">
            <a:off x="2387966" y="4516562"/>
            <a:ext cx="532738" cy="947843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BF10CE7-0DC6-498B-A683-C4B8225E332F}"/>
              </a:ext>
            </a:extLst>
          </p:cNvPr>
          <p:cNvSpPr/>
          <p:nvPr/>
        </p:nvSpPr>
        <p:spPr>
          <a:xfrm rot="1004510">
            <a:off x="2653148" y="3886475"/>
            <a:ext cx="532738" cy="947843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8B5783C-CA0D-46CB-8414-23854C9D0FDA}"/>
              </a:ext>
            </a:extLst>
          </p:cNvPr>
          <p:cNvSpPr/>
          <p:nvPr/>
        </p:nvSpPr>
        <p:spPr>
          <a:xfrm>
            <a:off x="5928049" y="5019870"/>
            <a:ext cx="167951" cy="139959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964C2F2-EAC6-4B59-BEB3-980857D539C9}"/>
              </a:ext>
            </a:extLst>
          </p:cNvPr>
          <p:cNvSpPr/>
          <p:nvPr/>
        </p:nvSpPr>
        <p:spPr>
          <a:xfrm>
            <a:off x="5928049" y="5442857"/>
            <a:ext cx="167951" cy="139959"/>
          </a:xfrm>
          <a:prstGeom prst="flowChartConnector">
            <a:avLst/>
          </a:prstGeom>
          <a:solidFill>
            <a:srgbClr val="7030A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A0FB2135-DA73-48EF-82FD-525CD7EA5E37}"/>
              </a:ext>
            </a:extLst>
          </p:cNvPr>
          <p:cNvSpPr/>
          <p:nvPr/>
        </p:nvSpPr>
        <p:spPr>
          <a:xfrm>
            <a:off x="2208245" y="5141167"/>
            <a:ext cx="167951" cy="139959"/>
          </a:xfrm>
          <a:prstGeom prst="flowChartConnector">
            <a:avLst/>
          </a:prstGeom>
          <a:solidFill>
            <a:srgbClr val="7030A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8D96B58-9ABE-4DA7-9C6E-C0AAB0D0EE64}"/>
              </a:ext>
            </a:extLst>
          </p:cNvPr>
          <p:cNvSpPr/>
          <p:nvPr/>
        </p:nvSpPr>
        <p:spPr>
          <a:xfrm>
            <a:off x="2910476" y="3670046"/>
            <a:ext cx="167951" cy="139959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6462AD-7B09-4D94-9F93-ABACAD2270A3}"/>
              </a:ext>
            </a:extLst>
          </p:cNvPr>
          <p:cNvSpPr txBox="1"/>
          <p:nvPr/>
        </p:nvSpPr>
        <p:spPr>
          <a:xfrm>
            <a:off x="6400798" y="4916458"/>
            <a:ext cx="116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Anoda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4059A6-3AB2-44C4-BC6B-0330EC8769B7}"/>
              </a:ext>
            </a:extLst>
          </p:cNvPr>
          <p:cNvSpPr txBox="1"/>
          <p:nvPr/>
        </p:nvSpPr>
        <p:spPr>
          <a:xfrm>
            <a:off x="6400799" y="5281126"/>
            <a:ext cx="116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Katoda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20ACC-1774-4C48-A973-7827F9D2FF2A}"/>
              </a:ext>
            </a:extLst>
          </p:cNvPr>
          <p:cNvSpPr txBox="1"/>
          <p:nvPr/>
        </p:nvSpPr>
        <p:spPr>
          <a:xfrm>
            <a:off x="5447244" y="2053047"/>
            <a:ext cx="4343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K-053	K-189</a:t>
            </a:r>
          </a:p>
          <a:p>
            <a:r>
              <a:rPr lang="en-US" dirty="0"/>
              <a:t>K-064	K-072</a:t>
            </a:r>
          </a:p>
          <a:p>
            <a:r>
              <a:rPr lang="en-US" dirty="0"/>
              <a:t>K-085	K-007</a:t>
            </a:r>
          </a:p>
          <a:p>
            <a:r>
              <a:rPr lang="en-US" dirty="0"/>
              <a:t>K-036	K-022</a:t>
            </a:r>
          </a:p>
          <a:p>
            <a:r>
              <a:rPr lang="en-US" dirty="0"/>
              <a:t>K-196	K-199</a:t>
            </a:r>
          </a:p>
          <a:p>
            <a:r>
              <a:rPr lang="en-US" dirty="0"/>
              <a:t>K-188	K-066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BC220A-941A-4909-98DF-A471EBF6BCE4}"/>
              </a:ext>
            </a:extLst>
          </p:cNvPr>
          <p:cNvSpPr/>
          <p:nvPr/>
        </p:nvSpPr>
        <p:spPr>
          <a:xfrm rot="2079441">
            <a:off x="1585292" y="2995655"/>
            <a:ext cx="1843055" cy="2798518"/>
          </a:xfrm>
          <a:prstGeom prst="ellipse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E145BB-D7A0-47DA-94D4-099DFE20FC91}"/>
              </a:ext>
            </a:extLst>
          </p:cNvPr>
          <p:cNvCxnSpPr/>
          <p:nvPr/>
        </p:nvCxnSpPr>
        <p:spPr>
          <a:xfrm>
            <a:off x="2419502" y="5216296"/>
            <a:ext cx="266700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31DF55-62CD-4B91-81A0-E6DBF0F90F1C}"/>
              </a:ext>
            </a:extLst>
          </p:cNvPr>
          <p:cNvCxnSpPr/>
          <p:nvPr/>
        </p:nvCxnSpPr>
        <p:spPr>
          <a:xfrm>
            <a:off x="8096250" y="5084112"/>
            <a:ext cx="266700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C277A20-548D-49A2-9187-83626D6260DA}"/>
              </a:ext>
            </a:extLst>
          </p:cNvPr>
          <p:cNvSpPr txBox="1"/>
          <p:nvPr/>
        </p:nvSpPr>
        <p:spPr>
          <a:xfrm>
            <a:off x="8823416" y="4838122"/>
            <a:ext cx="116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Tetap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E3573E-525D-46E0-A858-45211B524866}"/>
              </a:ext>
            </a:extLst>
          </p:cNvPr>
          <p:cNvCxnSpPr>
            <a:cxnSpLocks/>
          </p:cNvCxnSpPr>
          <p:nvPr/>
        </p:nvCxnSpPr>
        <p:spPr>
          <a:xfrm flipV="1">
            <a:off x="8229600" y="5281126"/>
            <a:ext cx="0" cy="23171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63F01B3-BE1E-455D-A83A-4A24AFE3D1E1}"/>
              </a:ext>
            </a:extLst>
          </p:cNvPr>
          <p:cNvSpPr txBox="1"/>
          <p:nvPr/>
        </p:nvSpPr>
        <p:spPr>
          <a:xfrm>
            <a:off x="8823416" y="5216296"/>
            <a:ext cx="116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Naik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8EF3E6F-8E04-4B60-9D3F-9FD57B33A87A}"/>
              </a:ext>
            </a:extLst>
          </p:cNvPr>
          <p:cNvCxnSpPr>
            <a:cxnSpLocks/>
          </p:cNvCxnSpPr>
          <p:nvPr/>
        </p:nvCxnSpPr>
        <p:spPr>
          <a:xfrm>
            <a:off x="8229600" y="5650458"/>
            <a:ext cx="0" cy="2318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06B785-EAE1-4173-AF27-5292E77D0AEA}"/>
              </a:ext>
            </a:extLst>
          </p:cNvPr>
          <p:cNvCxnSpPr>
            <a:cxnSpLocks/>
          </p:cNvCxnSpPr>
          <p:nvPr/>
        </p:nvCxnSpPr>
        <p:spPr>
          <a:xfrm flipV="1">
            <a:off x="8229600" y="5281126"/>
            <a:ext cx="9525" cy="2317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2B2C28E-9404-49AF-A57C-905819490A7E}"/>
              </a:ext>
            </a:extLst>
          </p:cNvPr>
          <p:cNvSpPr txBox="1"/>
          <p:nvPr/>
        </p:nvSpPr>
        <p:spPr>
          <a:xfrm>
            <a:off x="8813892" y="5527712"/>
            <a:ext cx="116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Turun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AD5DDDA-91D0-4F7E-A832-6D5F77AED095}"/>
              </a:ext>
            </a:extLst>
          </p:cNvPr>
          <p:cNvCxnSpPr>
            <a:cxnSpLocks/>
          </p:cNvCxnSpPr>
          <p:nvPr/>
        </p:nvCxnSpPr>
        <p:spPr>
          <a:xfrm flipV="1">
            <a:off x="2861193" y="4298307"/>
            <a:ext cx="9525" cy="2317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6F8BA44-80C7-44FE-B9EF-D948A6085695}"/>
              </a:ext>
            </a:extLst>
          </p:cNvPr>
          <p:cNvCxnSpPr>
            <a:cxnSpLocks/>
          </p:cNvCxnSpPr>
          <p:nvPr/>
        </p:nvCxnSpPr>
        <p:spPr>
          <a:xfrm>
            <a:off x="2492559" y="3975521"/>
            <a:ext cx="0" cy="2318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E3C2969-B62B-4515-9F9F-1232AA606F1C}"/>
              </a:ext>
            </a:extLst>
          </p:cNvPr>
          <p:cNvCxnSpPr/>
          <p:nvPr/>
        </p:nvCxnSpPr>
        <p:spPr>
          <a:xfrm>
            <a:off x="2286152" y="3819712"/>
            <a:ext cx="266700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D49D004-59ED-4F07-AEEE-A74126B1D778}"/>
              </a:ext>
            </a:extLst>
          </p:cNvPr>
          <p:cNvCxnSpPr>
            <a:cxnSpLocks/>
          </p:cNvCxnSpPr>
          <p:nvPr/>
        </p:nvCxnSpPr>
        <p:spPr>
          <a:xfrm flipV="1">
            <a:off x="3209415" y="3925608"/>
            <a:ext cx="9525" cy="2317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2A0982-6B5D-41AA-8B18-C9B02BF7178F}"/>
              </a:ext>
            </a:extLst>
          </p:cNvPr>
          <p:cNvCxnSpPr>
            <a:cxnSpLocks/>
          </p:cNvCxnSpPr>
          <p:nvPr/>
        </p:nvCxnSpPr>
        <p:spPr>
          <a:xfrm>
            <a:off x="2208245" y="4633850"/>
            <a:ext cx="0" cy="2318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6006227-BD58-4EC2-90A3-B7A06ACAB158}"/>
              </a:ext>
            </a:extLst>
          </p:cNvPr>
          <p:cNvCxnSpPr>
            <a:cxnSpLocks/>
          </p:cNvCxnSpPr>
          <p:nvPr/>
        </p:nvCxnSpPr>
        <p:spPr>
          <a:xfrm>
            <a:off x="2486209" y="4536996"/>
            <a:ext cx="0" cy="2318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EE039A-32FE-4D61-86A6-E7B220A04E90}"/>
              </a:ext>
            </a:extLst>
          </p:cNvPr>
          <p:cNvCxnSpPr>
            <a:cxnSpLocks/>
          </p:cNvCxnSpPr>
          <p:nvPr/>
        </p:nvCxnSpPr>
        <p:spPr>
          <a:xfrm flipV="1">
            <a:off x="2540236" y="4869414"/>
            <a:ext cx="9525" cy="2317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D72D61B-6254-46F5-8381-5F10CE9ED0EF}"/>
              </a:ext>
            </a:extLst>
          </p:cNvPr>
          <p:cNvCxnSpPr>
            <a:cxnSpLocks/>
          </p:cNvCxnSpPr>
          <p:nvPr/>
        </p:nvCxnSpPr>
        <p:spPr>
          <a:xfrm flipV="1">
            <a:off x="2920560" y="4928119"/>
            <a:ext cx="9525" cy="2317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5D0F068-D967-4FE0-B270-D278334DDA5B}"/>
              </a:ext>
            </a:extLst>
          </p:cNvPr>
          <p:cNvCxnSpPr>
            <a:cxnSpLocks/>
          </p:cNvCxnSpPr>
          <p:nvPr/>
        </p:nvCxnSpPr>
        <p:spPr>
          <a:xfrm flipV="1">
            <a:off x="1837446" y="4968257"/>
            <a:ext cx="9525" cy="2317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B9EEC58-0D82-49C7-A7CD-8B450B49179D}"/>
              </a:ext>
            </a:extLst>
          </p:cNvPr>
          <p:cNvCxnSpPr/>
          <p:nvPr/>
        </p:nvCxnSpPr>
        <p:spPr>
          <a:xfrm>
            <a:off x="2240119" y="5582816"/>
            <a:ext cx="266700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6E68C44-0EC5-45C0-96DA-C3380E76EE90}"/>
              </a:ext>
            </a:extLst>
          </p:cNvPr>
          <p:cNvCxnSpPr/>
          <p:nvPr/>
        </p:nvCxnSpPr>
        <p:spPr>
          <a:xfrm>
            <a:off x="1580271" y="5629170"/>
            <a:ext cx="266700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94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K Disclaimer">
            <a:extLst>
              <a:ext uri="{FF2B5EF4-FFF2-40B4-BE49-F238E27FC236}">
                <a16:creationId xmlns:a16="http://schemas.microsoft.com/office/drawing/2014/main" id="{7A23178D-94AE-4D02-A761-F725ED60DBC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1998"/>
            <a:ext cx="12192000" cy="615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/>
        </p:spPr>
        <p:txBody>
          <a:bodyPr wrap="square" lIns="182880" tIns="0" rIns="0" bIns="0" anchor="b">
            <a:spAutoFit/>
          </a:bodyPr>
          <a:lstStyle/>
          <a:p>
            <a:r>
              <a:rPr lang="en-US" sz="4000" b="1" dirty="0">
                <a:solidFill>
                  <a:srgbClr val="111111"/>
                </a:solidFill>
                <a:latin typeface="Roboto"/>
              </a:rPr>
              <a:t>Roadmap E-EOR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30987" y="3709022"/>
            <a:ext cx="9867331" cy="0"/>
          </a:xfrm>
          <a:prstGeom prst="straightConnector1">
            <a:avLst/>
          </a:prstGeom>
          <a:ln w="38100">
            <a:solidFill>
              <a:schemeClr val="tx1"/>
            </a:solidFill>
            <a:prstDash val="dash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Line Callout 2 6"/>
          <p:cNvSpPr/>
          <p:nvPr/>
        </p:nvSpPr>
        <p:spPr>
          <a:xfrm>
            <a:off x="1137627" y="708369"/>
            <a:ext cx="2315497" cy="2669459"/>
          </a:xfrm>
          <a:prstGeom prst="borderCallout2">
            <a:avLst>
              <a:gd name="adj1" fmla="val 50794"/>
              <a:gd name="adj2" fmla="val -3874"/>
              <a:gd name="adj3" fmla="val 50863"/>
              <a:gd name="adj4" fmla="val -19547"/>
              <a:gd name="adj5" fmla="val 108165"/>
              <a:gd name="adj6" fmla="val -19264"/>
            </a:avLst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2021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Initiation of the idea and the purpose of EAOR to enhance oil flow in reservoir from one (injector) to designated well (producer)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Literature Study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Knowledge Sharing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Networking with experts, </a:t>
            </a:r>
            <a:r>
              <a:rPr lang="en-US" sz="1400" dirty="0" err="1">
                <a:solidFill>
                  <a:schemeClr val="tx1"/>
                </a:solidFill>
              </a:rPr>
              <a:t>esp</a:t>
            </a:r>
            <a:r>
              <a:rPr lang="en-US" sz="1400" dirty="0">
                <a:solidFill>
                  <a:schemeClr val="tx1"/>
                </a:solidFill>
              </a:rPr>
              <a:t> with PCP </a:t>
            </a:r>
            <a:r>
              <a:rPr lang="en-US" sz="1400" dirty="0" err="1">
                <a:solidFill>
                  <a:schemeClr val="tx1"/>
                </a:solidFill>
              </a:rPr>
              <a:t>Doelman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Line Callout 2 7"/>
          <p:cNvSpPr/>
          <p:nvPr/>
        </p:nvSpPr>
        <p:spPr>
          <a:xfrm>
            <a:off x="2860211" y="3962607"/>
            <a:ext cx="5699589" cy="2850575"/>
          </a:xfrm>
          <a:prstGeom prst="borderCallout2">
            <a:avLst>
              <a:gd name="adj1" fmla="val 49198"/>
              <a:gd name="adj2" fmla="val -4075"/>
              <a:gd name="adj3" fmla="val 48888"/>
              <a:gd name="adj4" fmla="val -10773"/>
              <a:gd name="adj5" fmla="val -5759"/>
              <a:gd name="adj6" fmla="val -1107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2022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Develop / replication and modification if necessary for the existing devices and methodology to enhance the function and get the expected result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Engineering Design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Unit Rectifier development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and review design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</a:rPr>
              <a:t>Field screening for technology deployment that characterize by: High Pour Point Oil, low production and high water cut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Field screening for further technology implementation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Laboratory test for fluids, rock.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Laboratory Test</a:t>
            </a:r>
          </a:p>
        </p:txBody>
      </p:sp>
      <p:sp>
        <p:nvSpPr>
          <p:cNvPr id="10" name="Line Callout 2 9"/>
          <p:cNvSpPr/>
          <p:nvPr/>
        </p:nvSpPr>
        <p:spPr>
          <a:xfrm>
            <a:off x="7146942" y="754029"/>
            <a:ext cx="2081357" cy="2578137"/>
          </a:xfrm>
          <a:prstGeom prst="borderCallout2">
            <a:avLst>
              <a:gd name="adj1" fmla="val 50029"/>
              <a:gd name="adj2" fmla="val -4333"/>
              <a:gd name="adj3" fmla="val 50029"/>
              <a:gd name="adj4" fmla="val -17810"/>
              <a:gd name="adj5" fmla="val 109598"/>
              <a:gd name="adj6" fmla="val -16373"/>
            </a:avLst>
          </a:prstGeom>
          <a:solidFill>
            <a:srgbClr val="99FF99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2024</a:t>
            </a: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Technology Deployment in wider scale / region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Device replication to be implemented in other business units or region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Performance Monitoring</a:t>
            </a:r>
          </a:p>
        </p:txBody>
      </p:sp>
      <p:sp>
        <p:nvSpPr>
          <p:cNvPr id="11" name="Line Callout 2 10"/>
          <p:cNvSpPr/>
          <p:nvPr/>
        </p:nvSpPr>
        <p:spPr>
          <a:xfrm>
            <a:off x="9228299" y="4042414"/>
            <a:ext cx="2580969" cy="2669459"/>
          </a:xfrm>
          <a:prstGeom prst="borderCallout2">
            <a:avLst>
              <a:gd name="adj1" fmla="val 53004"/>
              <a:gd name="adj2" fmla="val -2047"/>
              <a:gd name="adj3" fmla="val 53004"/>
              <a:gd name="adj4" fmla="val -15524"/>
              <a:gd name="adj5" fmla="val -9092"/>
              <a:gd name="adj6" fmla="val -15566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2025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Massive fabrication and full scale implementation for applicable fields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Performance Monitoring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Research for further development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Massive technology deployment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Technology Transfer</a:t>
            </a:r>
          </a:p>
        </p:txBody>
      </p:sp>
      <p:sp>
        <p:nvSpPr>
          <p:cNvPr id="12" name="Oval 11"/>
          <p:cNvSpPr/>
          <p:nvPr/>
        </p:nvSpPr>
        <p:spPr>
          <a:xfrm>
            <a:off x="531183" y="3544683"/>
            <a:ext cx="272955" cy="2729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158897" y="3553174"/>
            <a:ext cx="272955" cy="2729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160405" y="3553174"/>
            <a:ext cx="272955" cy="2729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654843" y="3536934"/>
            <a:ext cx="272955" cy="2729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656351" y="3553174"/>
            <a:ext cx="272955" cy="2729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ine Callout 2 17"/>
          <p:cNvSpPr/>
          <p:nvPr/>
        </p:nvSpPr>
        <p:spPr>
          <a:xfrm>
            <a:off x="4579619" y="754029"/>
            <a:ext cx="1713783" cy="2578137"/>
          </a:xfrm>
          <a:prstGeom prst="borderCallout2">
            <a:avLst>
              <a:gd name="adj1" fmla="val 50029"/>
              <a:gd name="adj2" fmla="val -4333"/>
              <a:gd name="adj3" fmla="val 50029"/>
              <a:gd name="adj4" fmla="val -17810"/>
              <a:gd name="adj5" fmla="val 108636"/>
              <a:gd name="adj6" fmla="val -17013"/>
            </a:avLst>
          </a:prstGeom>
          <a:solidFill>
            <a:srgbClr val="99FF99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2023</a:t>
            </a: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Pilot Project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Field Test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Laboratory test for fluid and rock for respected field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Performance Monitoring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B0B7E8-CD47-448F-828D-069CF75AF4D6}"/>
              </a:ext>
            </a:extLst>
          </p:cNvPr>
          <p:cNvSpPr/>
          <p:nvPr/>
        </p:nvSpPr>
        <p:spPr>
          <a:xfrm>
            <a:off x="6927798" y="520455"/>
            <a:ext cx="2635302" cy="30164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5D782-C61F-4668-A240-F50AA4DE87CA}"/>
              </a:ext>
            </a:extLst>
          </p:cNvPr>
          <p:cNvSpPr/>
          <p:nvPr/>
        </p:nvSpPr>
        <p:spPr>
          <a:xfrm rot="19287158">
            <a:off x="3812071" y="2064330"/>
            <a:ext cx="3301096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Pilot project on Progress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BF8692-879E-4819-AD24-77150968197A}"/>
              </a:ext>
            </a:extLst>
          </p:cNvPr>
          <p:cNvSpPr/>
          <p:nvPr/>
        </p:nvSpPr>
        <p:spPr>
          <a:xfrm rot="19287158">
            <a:off x="3442174" y="5128739"/>
            <a:ext cx="468474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Method &amp; tools development done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F1542B-AECD-4BE7-8F0A-08460F6A7484}"/>
              </a:ext>
            </a:extLst>
          </p:cNvPr>
          <p:cNvSpPr/>
          <p:nvPr/>
        </p:nvSpPr>
        <p:spPr>
          <a:xfrm rot="19287158">
            <a:off x="560056" y="2157537"/>
            <a:ext cx="3868367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omic Sans MS" panose="030F0702030302020204" pitchFamily="66" charset="0"/>
              </a:rPr>
              <a:t>Technology assessment done</a:t>
            </a:r>
          </a:p>
        </p:txBody>
      </p:sp>
    </p:spTree>
    <p:extLst>
      <p:ext uri="{BB962C8B-B14F-4D97-AF65-F5344CB8AC3E}">
        <p14:creationId xmlns:p14="http://schemas.microsoft.com/office/powerpoint/2010/main" val="2020965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626" y="11633"/>
            <a:ext cx="10515600" cy="951089"/>
          </a:xfrm>
        </p:spPr>
        <p:txBody>
          <a:bodyPr/>
          <a:lstStyle/>
          <a:p>
            <a:r>
              <a:rPr lang="en-US" b="1" dirty="0" err="1">
                <a:latin typeface="Futura Book"/>
              </a:rPr>
              <a:t>Metodologi</a:t>
            </a:r>
            <a:r>
              <a:rPr lang="en-US" b="1" dirty="0">
                <a:latin typeface="Futura Book"/>
              </a:rPr>
              <a:t> (</a:t>
            </a:r>
            <a:r>
              <a:rPr lang="en-US" b="1" dirty="0" err="1">
                <a:latin typeface="Futura Book"/>
              </a:rPr>
              <a:t>tahun</a:t>
            </a:r>
            <a:r>
              <a:rPr lang="en-US" b="1" dirty="0">
                <a:latin typeface="Futura Book"/>
              </a:rPr>
              <a:t> 2025)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D37BF-18A9-43D2-86FB-901E658A36B8}"/>
              </a:ext>
            </a:extLst>
          </p:cNvPr>
          <p:cNvSpPr/>
          <p:nvPr/>
        </p:nvSpPr>
        <p:spPr>
          <a:xfrm>
            <a:off x="0" y="6262048"/>
            <a:ext cx="12192001" cy="595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95758">
              <a:defRPr/>
            </a:pPr>
            <a:endParaRPr lang="en-US" sz="1567">
              <a:solidFill>
                <a:prstClr val="white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2DD8E-9EF0-42F3-82FC-828ACBDFB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9795" y="-412595"/>
            <a:ext cx="3334213" cy="15388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C0911F-2D81-44B9-B657-63993BFA25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2997"/>
            <a:ext cx="1572544" cy="715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CCED95-9CC1-4715-A5CF-A51416458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174" y="6451989"/>
            <a:ext cx="1689652" cy="216070"/>
          </a:xfrm>
          <a:prstGeom prst="rect">
            <a:avLst/>
          </a:prstGeom>
        </p:spPr>
      </p:pic>
      <p:pic>
        <p:nvPicPr>
          <p:cNvPr id="8" name="Graphic 12">
            <a:extLst>
              <a:ext uri="{FF2B5EF4-FFF2-40B4-BE49-F238E27FC236}">
                <a16:creationId xmlns:a16="http://schemas.microsoft.com/office/drawing/2014/main" id="{7CB2DD97-CEE8-474E-89D4-CDB477C548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3365" y="6348730"/>
            <a:ext cx="410076" cy="4029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EB3EB8-3686-480F-8C4F-49BAAEE7079A}"/>
              </a:ext>
            </a:extLst>
          </p:cNvPr>
          <p:cNvSpPr/>
          <p:nvPr/>
        </p:nvSpPr>
        <p:spPr>
          <a:xfrm>
            <a:off x="454030" y="1061273"/>
            <a:ext cx="5553070" cy="3066227"/>
          </a:xfrm>
          <a:prstGeom prst="roundRect">
            <a:avLst>
              <a:gd name="adj" fmla="val 995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CA4218-CBC8-4285-9D44-E577E9E0FFB4}"/>
              </a:ext>
            </a:extLst>
          </p:cNvPr>
          <p:cNvSpPr/>
          <p:nvPr/>
        </p:nvSpPr>
        <p:spPr>
          <a:xfrm>
            <a:off x="157224" y="1079347"/>
            <a:ext cx="61466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/>
              <a:t>Evaluasi</a:t>
            </a:r>
            <a:r>
              <a:rPr lang="en-US" sz="2000" b="1" dirty="0"/>
              <a:t> </a:t>
            </a:r>
            <a:r>
              <a:rPr lang="en-US" sz="2000" b="1" dirty="0" err="1"/>
              <a:t>hasil</a:t>
            </a:r>
            <a:r>
              <a:rPr lang="en-US" sz="2000" b="1" dirty="0"/>
              <a:t> uji </a:t>
            </a:r>
            <a:r>
              <a:rPr lang="en-US" sz="2000" b="1" dirty="0" err="1"/>
              <a:t>coba</a:t>
            </a:r>
            <a:r>
              <a:rPr lang="en-US" sz="2000" b="1" dirty="0"/>
              <a:t> lap. </a:t>
            </a:r>
            <a:r>
              <a:rPr lang="en-US" sz="2000" b="1" dirty="0" err="1"/>
              <a:t>Duri</a:t>
            </a:r>
            <a:r>
              <a:rPr lang="en-US" sz="2000" b="1" dirty="0"/>
              <a:t> dan </a:t>
            </a:r>
            <a:r>
              <a:rPr lang="en-US" sz="2000" b="1" dirty="0" err="1"/>
              <a:t>Klamono</a:t>
            </a:r>
            <a:endParaRPr lang="en-US" sz="2000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790733-4F48-4AB4-96D5-6F2F1BCA0A88}"/>
              </a:ext>
            </a:extLst>
          </p:cNvPr>
          <p:cNvSpPr/>
          <p:nvPr/>
        </p:nvSpPr>
        <p:spPr>
          <a:xfrm>
            <a:off x="678264" y="1610841"/>
            <a:ext cx="2099333" cy="2326159"/>
          </a:xfrm>
          <a:prstGeom prst="roundRect">
            <a:avLst>
              <a:gd name="adj" fmla="val 995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Monitoring </a:t>
            </a:r>
            <a:r>
              <a:rPr lang="en-US" dirty="0" err="1">
                <a:solidFill>
                  <a:schemeClr val="tx1"/>
                </a:solidFill>
              </a:rPr>
              <a:t>produksi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evaluasi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metode</a:t>
            </a:r>
            <a:r>
              <a:rPr lang="en-US" dirty="0">
                <a:solidFill>
                  <a:schemeClr val="tx1"/>
                </a:solidFill>
              </a:rPr>
              <a:t> dan </a:t>
            </a:r>
            <a:r>
              <a:rPr lang="en-US" dirty="0" err="1">
                <a:solidFill>
                  <a:schemeClr val="tx1"/>
                </a:solidFill>
              </a:rPr>
              <a:t>peralatan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BB77C5-4AC0-4532-907A-293B24A42319}"/>
              </a:ext>
            </a:extLst>
          </p:cNvPr>
          <p:cNvSpPr/>
          <p:nvPr/>
        </p:nvSpPr>
        <p:spPr>
          <a:xfrm>
            <a:off x="3074404" y="1649923"/>
            <a:ext cx="2879185" cy="2287077"/>
          </a:xfrm>
          <a:prstGeom prst="roundRect">
            <a:avLst>
              <a:gd name="adj" fmla="val 995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Akusisi</a:t>
            </a:r>
            <a:r>
              <a:rPr lang="en-US" dirty="0">
                <a:solidFill>
                  <a:schemeClr val="tx1"/>
                </a:solidFill>
              </a:rPr>
              <a:t> data subsurface</a:t>
            </a:r>
          </a:p>
          <a:p>
            <a:pPr algn="just"/>
            <a:r>
              <a:rPr lang="en-US" dirty="0" err="1">
                <a:solidFill>
                  <a:schemeClr val="tx1"/>
                </a:solidFill>
              </a:rPr>
              <a:t>Kolaborasi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fungsi</a:t>
            </a:r>
            <a:r>
              <a:rPr lang="en-US" dirty="0">
                <a:solidFill>
                  <a:schemeClr val="tx1"/>
                </a:solidFill>
              </a:rPr>
              <a:t> IGF dan IGL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monitoring data subsurface </a:t>
            </a:r>
            <a:r>
              <a:rPr lang="en-US" dirty="0" err="1">
                <a:solidFill>
                  <a:schemeClr val="tx1"/>
                </a:solidFill>
              </a:rPr>
              <a:t>menggunakan</a:t>
            </a:r>
            <a:r>
              <a:rPr lang="en-US" dirty="0">
                <a:solidFill>
                  <a:schemeClr val="tx1"/>
                </a:solidFill>
              </a:rPr>
              <a:t> SP-ERT, </a:t>
            </a:r>
            <a:r>
              <a:rPr lang="en-US" dirty="0" err="1">
                <a:solidFill>
                  <a:schemeClr val="tx1"/>
                </a:solidFill>
              </a:rPr>
              <a:t>timelapse</a:t>
            </a:r>
            <a:r>
              <a:rPr lang="en-US" dirty="0">
                <a:solidFill>
                  <a:schemeClr val="tx1"/>
                </a:solidFill>
              </a:rPr>
              <a:t> LFPS, dan </a:t>
            </a:r>
            <a:r>
              <a:rPr lang="en-US" dirty="0" err="1">
                <a:solidFill>
                  <a:schemeClr val="tx1"/>
                </a:solidFill>
              </a:rPr>
              <a:t>Pertabocsy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D886E6-58FA-46FB-8BF2-864AB357BE1C}"/>
              </a:ext>
            </a:extLst>
          </p:cNvPr>
          <p:cNvSpPr/>
          <p:nvPr/>
        </p:nvSpPr>
        <p:spPr>
          <a:xfrm>
            <a:off x="6787610" y="1065573"/>
            <a:ext cx="5061489" cy="3032413"/>
          </a:xfrm>
          <a:prstGeom prst="roundRect">
            <a:avLst>
              <a:gd name="adj" fmla="val 995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0A61C6-2534-4B4C-BEB4-F43907869BC7}"/>
              </a:ext>
            </a:extLst>
          </p:cNvPr>
          <p:cNvSpPr/>
          <p:nvPr/>
        </p:nvSpPr>
        <p:spPr>
          <a:xfrm>
            <a:off x="6940826" y="1075663"/>
            <a:ext cx="47971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/>
              <a:t>Alih</a:t>
            </a:r>
            <a:r>
              <a:rPr lang="en-US" sz="2000" b="1" dirty="0"/>
              <a:t> </a:t>
            </a:r>
            <a:r>
              <a:rPr lang="en-US" sz="2000" b="1" dirty="0" err="1"/>
              <a:t>teknologi</a:t>
            </a:r>
            <a:r>
              <a:rPr lang="en-US" sz="2000" b="1" dirty="0"/>
              <a:t> </a:t>
            </a:r>
            <a:r>
              <a:rPr lang="en-US" sz="2000" b="1" dirty="0" err="1"/>
              <a:t>metode</a:t>
            </a:r>
            <a:r>
              <a:rPr lang="en-US" sz="2000" b="1" dirty="0"/>
              <a:t> dan </a:t>
            </a:r>
            <a:r>
              <a:rPr lang="en-US" sz="2000" b="1" dirty="0" err="1"/>
              <a:t>peralatan</a:t>
            </a:r>
            <a:r>
              <a:rPr lang="en-US" sz="2000" b="1" dirty="0"/>
              <a:t> </a:t>
            </a:r>
            <a:r>
              <a:rPr lang="en-US" sz="2000" b="1" dirty="0" err="1"/>
              <a:t>ke</a:t>
            </a:r>
            <a:r>
              <a:rPr lang="en-US" sz="2000" b="1" dirty="0"/>
              <a:t> zona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937ECAD-DB1E-4631-92BE-3BC5FBEFEFBF}"/>
              </a:ext>
            </a:extLst>
          </p:cNvPr>
          <p:cNvSpPr/>
          <p:nvPr/>
        </p:nvSpPr>
        <p:spPr>
          <a:xfrm>
            <a:off x="7174761" y="1765166"/>
            <a:ext cx="4381808" cy="2229758"/>
          </a:xfrm>
          <a:prstGeom prst="roundRect">
            <a:avLst>
              <a:gd name="adj" fmla="val 995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Sharing </a:t>
            </a:r>
            <a:r>
              <a:rPr lang="en-US" dirty="0" err="1">
                <a:solidFill>
                  <a:schemeClr val="tx1"/>
                </a:solidFill>
              </a:rPr>
              <a:t>teknologi</a:t>
            </a:r>
            <a:r>
              <a:rPr lang="en-US" dirty="0">
                <a:solidFill>
                  <a:schemeClr val="tx1"/>
                </a:solidFill>
              </a:rPr>
              <a:t> dan </a:t>
            </a:r>
            <a:r>
              <a:rPr lang="en-US" dirty="0" err="1">
                <a:solidFill>
                  <a:schemeClr val="tx1"/>
                </a:solidFill>
              </a:rPr>
              <a:t>desain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peralatan</a:t>
            </a:r>
            <a:r>
              <a:rPr lang="en-US" dirty="0">
                <a:solidFill>
                  <a:schemeClr val="tx1"/>
                </a:solidFill>
              </a:rPr>
              <a:t> E-EOR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zona </a:t>
            </a:r>
            <a:r>
              <a:rPr lang="en-US" dirty="0" err="1">
                <a:solidFill>
                  <a:schemeClr val="tx1"/>
                </a:solidFill>
              </a:rPr>
              <a:t>terkait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Pendampingan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</a:t>
            </a:r>
            <a:r>
              <a:rPr lang="en-US" dirty="0">
                <a:solidFill>
                  <a:schemeClr val="tx1"/>
                </a:solidFill>
              </a:rPr>
              <a:t> zona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pengadaan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perlatan</a:t>
            </a:r>
            <a:r>
              <a:rPr lang="en-US" dirty="0">
                <a:solidFill>
                  <a:schemeClr val="tx1"/>
                </a:solidFill>
              </a:rPr>
              <a:t> oleh zona </a:t>
            </a:r>
            <a:r>
              <a:rPr lang="en-US" dirty="0" err="1">
                <a:solidFill>
                  <a:schemeClr val="tx1"/>
                </a:solidFill>
              </a:rPr>
              <a:t>terkait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Mencari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potensi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pengembangan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metode</a:t>
            </a:r>
            <a:r>
              <a:rPr lang="en-US" dirty="0">
                <a:solidFill>
                  <a:schemeClr val="tx1"/>
                </a:solidFill>
              </a:rPr>
              <a:t> dan </a:t>
            </a:r>
            <a:r>
              <a:rPr lang="en-US" dirty="0" err="1">
                <a:solidFill>
                  <a:schemeClr val="tx1"/>
                </a:solidFill>
              </a:rPr>
              <a:t>peralatan</a:t>
            </a:r>
            <a:r>
              <a:rPr lang="en-US" dirty="0">
                <a:solidFill>
                  <a:schemeClr val="tx1"/>
                </a:solidFill>
              </a:rPr>
              <a:t> E-EOR (</a:t>
            </a:r>
            <a:r>
              <a:rPr lang="en-US" dirty="0" err="1">
                <a:solidFill>
                  <a:schemeClr val="tx1"/>
                </a:solidFill>
              </a:rPr>
              <a:t>penggunaan</a:t>
            </a:r>
            <a:r>
              <a:rPr lang="en-US" dirty="0">
                <a:solidFill>
                  <a:schemeClr val="tx1"/>
                </a:solidFill>
              </a:rPr>
              <a:t> panel Surya)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58D2BD0-3EAC-465C-A046-EC1F74EE9C11}"/>
              </a:ext>
            </a:extLst>
          </p:cNvPr>
          <p:cNvSpPr/>
          <p:nvPr/>
        </p:nvSpPr>
        <p:spPr>
          <a:xfrm>
            <a:off x="6787609" y="4520789"/>
            <a:ext cx="5061489" cy="1736501"/>
          </a:xfrm>
          <a:prstGeom prst="roundRect">
            <a:avLst>
              <a:gd name="adj" fmla="val 995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18C7B4-7219-4BFF-81B8-B95F6BF758FB}"/>
              </a:ext>
            </a:extLst>
          </p:cNvPr>
          <p:cNvSpPr/>
          <p:nvPr/>
        </p:nvSpPr>
        <p:spPr>
          <a:xfrm>
            <a:off x="7291009" y="4532771"/>
            <a:ext cx="40546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/>
              <a:t>Pelaksanaan</a:t>
            </a:r>
            <a:r>
              <a:rPr lang="en-US" sz="2000" b="1" dirty="0"/>
              <a:t> Pilot Plant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460CAC-9AC1-4DA0-AC16-D97DBB076E91}"/>
              </a:ext>
            </a:extLst>
          </p:cNvPr>
          <p:cNvSpPr/>
          <p:nvPr/>
        </p:nvSpPr>
        <p:spPr>
          <a:xfrm>
            <a:off x="7174762" y="4975009"/>
            <a:ext cx="4381808" cy="1118960"/>
          </a:xfrm>
          <a:prstGeom prst="roundRect">
            <a:avLst>
              <a:gd name="adj" fmla="val 995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Pendampingan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pelaksanan</a:t>
            </a:r>
            <a:r>
              <a:rPr lang="en-US" dirty="0">
                <a:solidFill>
                  <a:schemeClr val="tx1"/>
                </a:solidFill>
              </a:rPr>
              <a:t> pilot plant di </a:t>
            </a:r>
            <a:r>
              <a:rPr lang="en-US" dirty="0" err="1">
                <a:solidFill>
                  <a:schemeClr val="tx1"/>
                </a:solidFill>
              </a:rPr>
              <a:t>lapangan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Duri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Evaluasi</a:t>
            </a:r>
            <a:r>
              <a:rPr lang="en-US" dirty="0">
                <a:solidFill>
                  <a:schemeClr val="tx1"/>
                </a:solidFill>
              </a:rPr>
              <a:t> dan monitoring pilot plant di </a:t>
            </a:r>
            <a:r>
              <a:rPr lang="en-US" dirty="0" err="1">
                <a:solidFill>
                  <a:schemeClr val="tx1"/>
                </a:solidFill>
              </a:rPr>
              <a:t>lapangan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Duri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9BBB32-AE67-4236-A120-BA6C5C44EE9C}"/>
              </a:ext>
            </a:extLst>
          </p:cNvPr>
          <p:cNvSpPr/>
          <p:nvPr/>
        </p:nvSpPr>
        <p:spPr>
          <a:xfrm>
            <a:off x="678264" y="4827149"/>
            <a:ext cx="5061489" cy="772818"/>
          </a:xfrm>
          <a:prstGeom prst="roundRect">
            <a:avLst>
              <a:gd name="adj" fmla="val 995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95FF26-B0AD-4979-901C-70C144ECFB2B}"/>
              </a:ext>
            </a:extLst>
          </p:cNvPr>
          <p:cNvSpPr/>
          <p:nvPr/>
        </p:nvSpPr>
        <p:spPr>
          <a:xfrm>
            <a:off x="1181664" y="4839130"/>
            <a:ext cx="40546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/>
              <a:t>Studi</a:t>
            </a:r>
            <a:r>
              <a:rPr lang="en-US" sz="2000" b="1" dirty="0"/>
              <a:t> </a:t>
            </a:r>
            <a:r>
              <a:rPr lang="en-US" sz="2000" b="1" dirty="0" err="1"/>
              <a:t>pengembangan</a:t>
            </a:r>
            <a:r>
              <a:rPr lang="en-US" sz="2000" b="1" dirty="0"/>
              <a:t> </a:t>
            </a:r>
            <a:r>
              <a:rPr lang="en-US" sz="2000" b="1" dirty="0" err="1"/>
              <a:t>metode</a:t>
            </a:r>
            <a:r>
              <a:rPr lang="en-US" sz="2000" b="1" dirty="0"/>
              <a:t> dan </a:t>
            </a:r>
            <a:r>
              <a:rPr lang="en-US" sz="2000" b="1" dirty="0" err="1"/>
              <a:t>peralatan</a:t>
            </a:r>
            <a:r>
              <a:rPr lang="en-US" sz="2000" b="1" dirty="0"/>
              <a:t> E-EOR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C364AD1-047A-41A9-9C2C-4CE060A99706}"/>
              </a:ext>
            </a:extLst>
          </p:cNvPr>
          <p:cNvSpPr/>
          <p:nvPr/>
        </p:nvSpPr>
        <p:spPr>
          <a:xfrm>
            <a:off x="2756306" y="4143933"/>
            <a:ext cx="905403" cy="6317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4CDC37F7-D98F-4EC0-8132-91D050537BFF}"/>
              </a:ext>
            </a:extLst>
          </p:cNvPr>
          <p:cNvSpPr/>
          <p:nvPr/>
        </p:nvSpPr>
        <p:spPr>
          <a:xfrm>
            <a:off x="8979744" y="4107464"/>
            <a:ext cx="1002455" cy="4001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340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843X8WThNBsOfvtYb7v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843X8WThNBsOfvtYb7v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3306</TotalTime>
  <Words>788</Words>
  <Application>Microsoft Office PowerPoint</Application>
  <PresentationFormat>Widescreen</PresentationFormat>
  <Paragraphs>156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Comic Sans MS</vt:lpstr>
      <vt:lpstr>Futura Book</vt:lpstr>
      <vt:lpstr>Futura Lt BT</vt:lpstr>
      <vt:lpstr>Roboto</vt:lpstr>
      <vt:lpstr>Office Theme</vt:lpstr>
      <vt:lpstr>1_Office Theme</vt:lpstr>
      <vt:lpstr>think-cell Slide</vt:lpstr>
      <vt:lpstr>PowerPoint Presentation</vt:lpstr>
      <vt:lpstr>PowerPoint Presentation</vt:lpstr>
      <vt:lpstr>Deskripsi Inovasi</vt:lpstr>
      <vt:lpstr>Highlight 2021-2025</vt:lpstr>
      <vt:lpstr>Poin Inovasi</vt:lpstr>
      <vt:lpstr>Metodologi (tahun 2026)</vt:lpstr>
      <vt:lpstr>Rencana Pelaksanaan Inovasi</vt:lpstr>
      <vt:lpstr>PowerPoint Presentation</vt:lpstr>
      <vt:lpstr>PowerPoint Presentation</vt:lpstr>
      <vt:lpstr>PowerPoint Presentation</vt:lpstr>
      <vt:lpstr>Monitoring Well Production Performance</vt:lpstr>
      <vt:lpstr>PowerPoint Presentation</vt:lpstr>
      <vt:lpstr>Metodologi (tahun 2025)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Angga Priandika</dc:creator>
  <cp:lastModifiedBy>Suryo Adi Putranto</cp:lastModifiedBy>
  <cp:revision>95</cp:revision>
  <dcterms:created xsi:type="dcterms:W3CDTF">2020-03-10T14:16:32Z</dcterms:created>
  <dcterms:modified xsi:type="dcterms:W3CDTF">2026-02-09T02:29:59Z</dcterms:modified>
</cp:coreProperties>
</file>